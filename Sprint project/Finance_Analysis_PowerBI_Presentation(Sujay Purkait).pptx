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2023</c:v>
                </c:pt>
              </c:strCache>
            </c:strRef>
          </c:tx>
          <c:spPr>
            <a:solidFill>
              <a:srgbClr val="6B7280"/>
            </a:solidFill>
            <a:ln w="31750" cap="flat">
              <a:solidFill>
                <a:srgbClr val="6B72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B7280"/>
              </a:solidFill>
              <a:ln w="9525" cap="flat">
                <a:solidFill>
                  <a:srgbClr val="6B7280"/>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11.82</c:v>
                </c:pt>
                <c:pt idx="1">
                  <c:v>11.14</c:v>
                </c:pt>
                <c:pt idx="2">
                  <c:v>11.74</c:v>
                </c:pt>
                <c:pt idx="3">
                  <c:v>11.6</c:v>
                </c:pt>
                <c:pt idx="4">
                  <c:v>12.38</c:v>
                </c:pt>
                <c:pt idx="5">
                  <c:v>10.96</c:v>
                </c:pt>
                <c:pt idx="6">
                  <c:v>11.3</c:v>
                </c:pt>
                <c:pt idx="7">
                  <c:v>11.17</c:v>
                </c:pt>
                <c:pt idx="8">
                  <c:v>11.62</c:v>
                </c:pt>
                <c:pt idx="9">
                  <c:v>10.58</c:v>
                </c:pt>
                <c:pt idx="10">
                  <c:v>11.58</c:v>
                </c:pt>
                <c:pt idx="11">
                  <c:v>11.35</c:v>
                </c:pt>
              </c:numCache>
            </c:numRef>
          </c:val>
          <c:smooth val="0"/>
        </c:ser>
        <c:ser>
          <c:idx val="1"/>
          <c:order val="1"/>
          <c:tx>
            <c:strRef>
              <c:f>Sheet1!$C$1</c:f>
              <c:strCache>
                <c:ptCount val="1"/>
                <c:pt idx="0">
                  <c:v>2024</c:v>
                </c:pt>
              </c:strCache>
            </c:strRef>
          </c:tx>
          <c:spPr>
            <a:solidFill>
              <a:srgbClr val="F2A541"/>
            </a:solidFill>
            <a:ln w="31750"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2A541"/>
              </a:solidFill>
              <a:ln w="9525" cap="flat">
                <a:solidFill>
                  <a:srgbClr val="F2A541"/>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11.95</c:v>
                </c:pt>
                <c:pt idx="1">
                  <c:v>10.48</c:v>
                </c:pt>
                <c:pt idx="2">
                  <c:v>10.97</c:v>
                </c:pt>
                <c:pt idx="3">
                  <c:v>11.1</c:v>
                </c:pt>
                <c:pt idx="4">
                  <c:v>12.22</c:v>
                </c:pt>
                <c:pt idx="5">
                  <c:v>10.7</c:v>
                </c:pt>
                <c:pt idx="6">
                  <c:v>11.64</c:v>
                </c:pt>
                <c:pt idx="7">
                  <c:v>10.97</c:v>
                </c:pt>
                <c:pt idx="8">
                  <c:v>11.5</c:v>
                </c:pt>
                <c:pt idx="9">
                  <c:v>11.04</c:v>
                </c:pt>
                <c:pt idx="10">
                  <c:v>10.93</c:v>
                </c:pt>
                <c:pt idx="11">
                  <c:v>12.13</c:v>
                </c:pt>
              </c:numCache>
            </c:numRef>
          </c:val>
          <c:smooth val="0"/>
        </c:ser>
        <c:ser>
          <c:idx val="2"/>
          <c:order val="2"/>
          <c:tx>
            <c:strRef>
              <c:f>Sheet1!$D$1</c:f>
              <c:strCache>
                <c:ptCount val="1"/>
                <c:pt idx="0">
                  <c:v>2025</c:v>
                </c:pt>
              </c:strCache>
            </c:strRef>
          </c:tx>
          <c:spPr>
            <a:solidFill>
              <a:srgbClr val="0F9D9A"/>
            </a:solidFill>
            <a:ln w="31750" cap="flat">
              <a:solidFill>
                <a:srgbClr val="0F9D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9D9A"/>
              </a:solidFill>
              <a:ln w="9525" cap="flat">
                <a:solidFill>
                  <a:srgbClr val="0F9D9A"/>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Sheet1!$D$2:$D$13</c:f>
              <c:numCache>
                <c:formatCode>General</c:formatCode>
                <c:ptCount val="12"/>
                <c:pt idx="0">
                  <c:v>12.25</c:v>
                </c:pt>
                <c:pt idx="1">
                  <c:v>10.5</c:v>
                </c:pt>
                <c:pt idx="2">
                  <c:v>11.57</c:v>
                </c:pt>
                <c:pt idx="3">
                  <c:v>11.56</c:v>
                </c:pt>
                <c:pt idx="4">
                  <c:v>11.63</c:v>
                </c:pt>
                <c:pt idx="5">
                  <c:v>12.27</c:v>
                </c:pt>
                <c:pt idx="6">
                  <c:v>12.51</c:v>
                </c:pt>
                <c:pt idx="7">
                  <c:v>11.61</c:v>
                </c:pt>
                <c:pt idx="8">
                  <c:v>10.04</c:v>
                </c:pt>
                <c:pt idx="9">
                  <c:v>11.11</c:v>
                </c:pt>
                <c:pt idx="10">
                  <c:v>10.53</c:v>
                </c:pt>
                <c:pt idx="11">
                  <c:v>12.1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13"/>
          <c:min val="9"/>
        </c:scaling>
        <c:delete val="0"/>
        <c:axPos val="l"/>
        <c:majorGridlines>
          <c:spPr>
            <a:ln w="6350" cap="flat">
              <a:solidFill>
                <a:srgbClr val="E2E8F0"/>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 million</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Calibri"/>
              </a:defRPr>
            </a:pPr>
            <a:r>
              <a:rPr sz="1400" b="0" i="0" u="none" strike="noStrike">
                <a:solidFill>
                  <a:srgbClr val="0B2545"/>
                </a:solidFill>
                <a:latin typeface="Calibri"/>
              </a:rPr>
              <a:t>Amount by transaction type (₹ million)</a:t>
            </a:r>
          </a:p>
        </c:rich>
      </c:tx>
      <c:layout/>
      <c:overlay val="0"/>
    </c:title>
    <c:autoTitleDeleted val="0"/>
    <c:plotArea>
      <c:layout/>
      <c:barChart>
        <c:barDir val="bar"/>
        <c:grouping val="clustered"/>
        <c:varyColors val="0"/>
        <c:ser>
          <c:idx val="0"/>
          <c:order val="0"/>
          <c:tx>
            <c:strRef>
              <c:f>Sheet1!$B$1</c:f>
              <c:strCache>
                <c:ptCount val="1"/>
                <c:pt idx="0">
                  <c:v>Amount (₹M)</c:v>
                </c:pt>
              </c:strCache>
            </c:strRef>
          </c:tx>
          <c:spPr>
            <a:solidFill>
              <a:srgbClr val="1D4E89"/>
            </a:solidFill>
            <a:effectLst/>
          </c:spPr>
          <c:invertIfNegative val="0"/>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Sheet1!$A$2:$A$11</c:f>
              <c:multiLvlStrCache>
                <c:ptCount val="10"/>
                <c:lvl>
                  <c:pt idx="0">
                    <c:v>Loan EMI</c:v>
                  </c:pt>
                  <c:pt idx="1">
                    <c:v>Transfer</c:v>
                  </c:pt>
                  <c:pt idx="2">
                    <c:v>Deposit</c:v>
                  </c:pt>
                  <c:pt idx="3">
                    <c:v>Investment</c:v>
                  </c:pt>
                  <c:pt idx="4">
                    <c:v>Card Payment</c:v>
                  </c:pt>
                  <c:pt idx="5">
                    <c:v>Bill Payment</c:v>
                  </c:pt>
                  <c:pt idx="6">
                    <c:v>Withdrawal</c:v>
                  </c:pt>
                  <c:pt idx="7">
                    <c:v>Interest Credit</c:v>
                  </c:pt>
                  <c:pt idx="8">
                    <c:v>Refund</c:v>
                  </c:pt>
                  <c:pt idx="9">
                    <c:v>Fee Charge</c:v>
                  </c:pt>
                </c:lvl>
              </c:multiLvlStrCache>
            </c:multiLvlStrRef>
          </c:cat>
          <c:val>
            <c:numRef>
              <c:f>Sheet1!$B$2:$B$11</c:f>
              <c:numCache>
                <c:formatCode>General</c:formatCode>
                <c:ptCount val="10"/>
                <c:pt idx="0">
                  <c:v>131</c:v>
                </c:pt>
                <c:pt idx="1">
                  <c:v>120.8</c:v>
                </c:pt>
                <c:pt idx="2">
                  <c:v>68.8</c:v>
                </c:pt>
                <c:pt idx="3">
                  <c:v>49.2</c:v>
                </c:pt>
                <c:pt idx="4">
                  <c:v>26.9</c:v>
                </c:pt>
                <c:pt idx="5">
                  <c:v>21.8</c:v>
                </c:pt>
                <c:pt idx="6">
                  <c:v>21.4</c:v>
                </c:pt>
                <c:pt idx="7">
                  <c:v>9.2</c:v>
                </c:pt>
                <c:pt idx="8">
                  <c:v>5.2</c:v>
                </c:pt>
                <c:pt idx="9">
                  <c:v>1.7</c:v>
                </c:pt>
              </c:numCache>
            </c:numRef>
          </c:val>
        </c:ser>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Calibri"/>
              </a:defRPr>
            </a:pPr>
            <a:r>
              <a:rPr sz="1400" b="0" i="0" u="none" strike="noStrike">
                <a:solidFill>
                  <a:srgbClr val="0B2545"/>
                </a:solidFill>
                <a:latin typeface="Calibri"/>
              </a:rPr>
              <a:t>Share of amount by status</a:t>
            </a:r>
          </a:p>
        </c:rich>
      </c:tx>
      <c:layout/>
      <c:overlay val="0"/>
    </c:title>
    <c:autoTitleDeleted val="0"/>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0F9D9A"/>
              </a:solidFill>
              <a:ln w="25400" cap="flat">
                <a:solidFill>
                  <a:srgbClr val="FFFFFF"/>
                </a:solidFill>
                <a:prstDash val="solid"/>
                <a:round/>
              </a:ln>
              <a:effectLst/>
            </c:spPr>
          </c:dPt>
          <c:dPt>
            <c:idx val="1"/>
            <c:bubble3D val="0"/>
            <c:spPr>
              <a:solidFill>
                <a:srgbClr val="D1495B"/>
              </a:solidFill>
              <a:ln w="25400" cap="flat">
                <a:solidFill>
                  <a:srgbClr val="FFFFFF"/>
                </a:solidFill>
                <a:prstDash val="solid"/>
                <a:round/>
              </a:ln>
              <a:effectLst/>
            </c:spPr>
          </c:dPt>
          <c:dPt>
            <c:idx val="2"/>
            <c:bubble3D val="0"/>
            <c:spPr>
              <a:solidFill>
                <a:srgbClr val="F2A541"/>
              </a:solidFill>
              <a:ln w="25400" cap="flat">
                <a:solidFill>
                  <a:srgbClr val="FFFFFF"/>
                </a:solidFill>
                <a:prstDash val="solid"/>
                <a:round/>
              </a:ln>
              <a:effectLst/>
            </c:spPr>
          </c:dPt>
          <c:dLbls>
            <c:dLbl>
              <c:idx val="0"/>
              <c:numFmt formatCode="0%" sourceLinked="0"/>
              <c:spPr/>
              <c:txPr>
                <a:bodyPr/>
                <a:lstStyle/>
                <a:p>
                  <a:pPr>
                    <a:defRPr sz="14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4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4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Success</c:v>
                </c:pt>
                <c:pt idx="1">
                  <c:v>Failed</c:v>
                </c:pt>
                <c:pt idx="2">
                  <c:v>Pending</c:v>
                </c:pt>
              </c:strCache>
            </c:strRef>
          </c:cat>
          <c:val>
            <c:numRef>
              <c:f>Sheet1!$B$2:$B$4</c:f>
              <c:numCache>
                <c:ptCount val="3"/>
                <c:pt idx="0">
                  <c:v>389.4</c:v>
                </c:pt>
                <c:pt idx="1">
                  <c:v>47.5</c:v>
                </c:pt>
                <c:pt idx="2">
                  <c:v>19</c:v>
                </c:pt>
              </c:numCache>
            </c:numRef>
          </c:val>
        </c:ser>
        <c:firstSliceAng val="0"/>
        <c:holeSize val="58"/>
      </c:doughnutChart>
      <c:spPr>
        <a:noFill/>
        <a:ln>
          <a:noFill/>
        </a:ln>
        <a:effectLst/>
      </c:spPr>
    </c:plotArea>
    <c:legend>
      <c:legendPos val="r"/>
      <c:overlay val="0"/>
      <c:txPr>
        <a:bodyPr/>
        <a:lstStyle/>
        <a:p>
          <a:pPr>
            <a:defRPr sz="14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Calibri"/>
              </a:defRPr>
            </a:pPr>
            <a:r>
              <a:rPr sz="1400" b="0" i="0" u="none" strike="noStrike">
                <a:solidFill>
                  <a:srgbClr val="0B2545"/>
                </a:solidFill>
                <a:latin typeface="Calibri"/>
              </a:rPr>
              <a:t>Amount by segment (₹M)</a:t>
            </a:r>
          </a:p>
        </c:rich>
      </c:tx>
      <c:layout/>
      <c:overlay val="0"/>
    </c:title>
    <c:autoTitleDeleted val="0"/>
    <c:plotArea>
      <c:layout/>
      <c:barChart>
        <c:barDir val="col"/>
        <c:grouping val="clustered"/>
        <c:varyColors val="0"/>
        <c:ser>
          <c:idx val="0"/>
          <c:order val="0"/>
          <c:tx>
            <c:strRef>
              <c:f>Sheet1!$B$1</c:f>
              <c:strCache>
                <c:ptCount val="1"/>
                <c:pt idx="0">
                  <c:v>Amount (₹M)</c:v>
                </c:pt>
              </c:strCache>
            </c:strRef>
          </c:tx>
          <c:spPr>
            <a:solidFill>
              <a:srgbClr val="1D4E89"/>
            </a:solidFill>
            <a:effectLst/>
          </c:spPr>
          <c:invertIfNegative val="0"/>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Retail</c:v>
                  </c:pt>
                  <c:pt idx="1">
                    <c:v>Premium</c:v>
                  </c:pt>
                  <c:pt idx="2">
                    <c:v>SME</c:v>
                  </c:pt>
                  <c:pt idx="3">
                    <c:v>Corporate</c:v>
                  </c:pt>
                  <c:pt idx="4">
                    <c:v>Wealth</c:v>
                  </c:pt>
                </c:lvl>
              </c:multiLvlStrCache>
            </c:multiLvlStrRef>
          </c:cat>
          <c:val>
            <c:numRef>
              <c:f>Sheet1!$B$2:$B$6</c:f>
              <c:numCache>
                <c:formatCode>General</c:formatCode>
                <c:ptCount val="5"/>
                <c:pt idx="0">
                  <c:v>248.2</c:v>
                </c:pt>
                <c:pt idx="1">
                  <c:v>84.4</c:v>
                </c:pt>
                <c:pt idx="2">
                  <c:v>72</c:v>
                </c:pt>
                <c:pt idx="3">
                  <c:v>30.8</c:v>
                </c:pt>
                <c:pt idx="4">
                  <c:v>20.5</c:v>
                </c:pt>
              </c:numCache>
            </c:numRef>
          </c:val>
        </c:ser>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Calibri"/>
              </a:defRPr>
            </a:pPr>
            <a:r>
              <a:rPr sz="1400" b="0" i="0" u="none" strike="noStrike">
                <a:solidFill>
                  <a:srgbClr val="0B2545"/>
                </a:solidFill>
                <a:latin typeface="Calibri"/>
              </a:rPr>
              <a:t>Amount by gender</a:t>
            </a:r>
          </a:p>
        </c:rich>
      </c:tx>
      <c:layout/>
      <c:overlay val="0"/>
    </c:title>
    <c:autoTitleDeleted val="0"/>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0F9D9A"/>
              </a:solidFill>
              <a:ln w="25400" cap="flat">
                <a:solidFill>
                  <a:srgbClr val="FFFFFF"/>
                </a:solidFill>
                <a:prstDash val="solid"/>
                <a:round/>
              </a:ln>
              <a:effectLst/>
            </c:spPr>
          </c:dPt>
          <c:dPt>
            <c:idx val="1"/>
            <c:bubble3D val="0"/>
            <c:spPr>
              <a:solidFill>
                <a:srgbClr val="F2A541"/>
              </a:solidFill>
              <a:ln w="25400" cap="flat">
                <a:solidFill>
                  <a:srgbClr val="FFFFFF"/>
                </a:solidFill>
                <a:prstDash val="solid"/>
                <a:round/>
              </a:ln>
              <a:effectLst/>
            </c:spPr>
          </c:dPt>
          <c:dLbls>
            <c:dLbl>
              <c:idx val="0"/>
              <c:numFmt formatCode="0%" sourceLinked="0"/>
              <c:spPr/>
              <c:txPr>
                <a:bodyPr/>
                <a:lstStyle/>
                <a:p>
                  <a:pPr>
                    <a:defRPr sz="14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4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Female</c:v>
                </c:pt>
                <c:pt idx="1">
                  <c:v>Male</c:v>
                </c:pt>
              </c:strCache>
            </c:strRef>
          </c:cat>
          <c:val>
            <c:numRef>
              <c:f>Sheet1!$B$2:$B$3</c:f>
              <c:numCache>
                <c:ptCount val="2"/>
                <c:pt idx="0">
                  <c:v>235.8</c:v>
                </c:pt>
                <c:pt idx="1">
                  <c:v>220.1</c:v>
                </c:pt>
              </c:numCache>
            </c:numRef>
          </c:val>
        </c:ser>
        <c:firstSliceAng val="0"/>
        <c:holeSize val="55"/>
      </c:doughnutChart>
      <c:spPr>
        <a:noFill/>
        <a:ln>
          <a:noFill/>
        </a:ln>
        <a:effectLst/>
      </c:spPr>
    </c:plotArea>
    <c:legend>
      <c:legendPos val="b"/>
      <c:overlay val="0"/>
      <c:txPr>
        <a:bodyPr/>
        <a:lstStyle/>
        <a:p>
          <a:pPr>
            <a:defRPr sz="13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Calibri"/>
              </a:defRPr>
            </a:pPr>
            <a:r>
              <a:rPr sz="1400" b="0" i="0" u="none" strike="noStrike">
                <a:solidFill>
                  <a:srgbClr val="0B2545"/>
                </a:solidFill>
                <a:latin typeface="Calibri"/>
              </a:rPr>
              <a:t>Top 10 states by amount (₹ million)</a:t>
            </a:r>
          </a:p>
        </c:rich>
      </c:tx>
      <c:layout/>
      <c:overlay val="0"/>
    </c:title>
    <c:autoTitleDeleted val="0"/>
    <c:plotArea>
      <c:layout/>
      <c:barChart>
        <c:barDir val="bar"/>
        <c:grouping val="clustered"/>
        <c:varyColors val="0"/>
        <c:ser>
          <c:idx val="0"/>
          <c:order val="0"/>
          <c:tx>
            <c:strRef>
              <c:f>Sheet1!$B$1</c:f>
              <c:strCache>
                <c:ptCount val="1"/>
                <c:pt idx="0">
                  <c:v>Amount (₹M)</c:v>
                </c:pt>
              </c:strCache>
            </c:strRef>
          </c:tx>
          <c:spPr>
            <a:solidFill>
              <a:srgbClr val="0F9D9A"/>
            </a:solidFill>
            <a:effectLst/>
          </c:spPr>
          <c:invertIfNegative val="0"/>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Sheet1!$A$2:$A$11</c:f>
              <c:multiLvlStrCache>
                <c:ptCount val="10"/>
                <c:lvl>
                  <c:pt idx="0">
                    <c:v>Maharashtra</c:v>
                  </c:pt>
                  <c:pt idx="1">
                    <c:v>Karnataka</c:v>
                  </c:pt>
                  <c:pt idx="2">
                    <c:v>Gujarat</c:v>
                  </c:pt>
                  <c:pt idx="3">
                    <c:v>Tamil Nadu</c:v>
                  </c:pt>
                  <c:pt idx="4">
                    <c:v>Uttar Pradesh</c:v>
                  </c:pt>
                  <c:pt idx="5">
                    <c:v>Madhya Pradesh</c:v>
                  </c:pt>
                  <c:pt idx="6">
                    <c:v>Haryana</c:v>
                  </c:pt>
                  <c:pt idx="7">
                    <c:v>Kerala</c:v>
                  </c:pt>
                  <c:pt idx="8">
                    <c:v>Delhi</c:v>
                  </c:pt>
                  <c:pt idx="9">
                    <c:v>West Bengal</c:v>
                  </c:pt>
                </c:lvl>
              </c:multiLvlStrCache>
            </c:multiLvlStrRef>
          </c:cat>
          <c:val>
            <c:numRef>
              <c:f>Sheet1!$B$2:$B$11</c:f>
              <c:numCache>
                <c:formatCode>General</c:formatCode>
                <c:ptCount val="10"/>
                <c:pt idx="0">
                  <c:v>68.3</c:v>
                </c:pt>
                <c:pt idx="1">
                  <c:v>52.9</c:v>
                </c:pt>
                <c:pt idx="2">
                  <c:v>50.1</c:v>
                </c:pt>
                <c:pt idx="3">
                  <c:v>44.8</c:v>
                </c:pt>
                <c:pt idx="4">
                  <c:v>43.6</c:v>
                </c:pt>
                <c:pt idx="5">
                  <c:v>41.1</c:v>
                </c:pt>
                <c:pt idx="6">
                  <c:v>25.7</c:v>
                </c:pt>
                <c:pt idx="7">
                  <c:v>24.3</c:v>
                </c:pt>
                <c:pt idx="8">
                  <c:v>23.5</c:v>
                </c:pt>
                <c:pt idx="9">
                  <c:v>22.3</c:v>
                </c:pt>
              </c:numCache>
            </c:numRef>
          </c:val>
        </c:ser>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Calibri"/>
              </a:defRPr>
            </a:pPr>
            <a:r>
              <a:rPr sz="1400" b="0" i="0" u="none" strike="noStrike">
                <a:solidFill>
                  <a:srgbClr val="0B2545"/>
                </a:solidFill>
                <a:latin typeface="Calibri"/>
              </a:rPr>
              <a:t>Amount by channel, cleaned (₹M)</a:t>
            </a:r>
          </a:p>
        </c:rich>
      </c:tx>
      <c:layout/>
      <c:overlay val="0"/>
    </c:title>
    <c:autoTitleDeleted val="0"/>
    <c:plotArea>
      <c:layout/>
      <c:barChart>
        <c:barDir val="bar"/>
        <c:grouping val="clustered"/>
        <c:varyColors val="0"/>
        <c:ser>
          <c:idx val="0"/>
          <c:order val="0"/>
          <c:tx>
            <c:strRef>
              <c:f>Sheet1!$B$1</c:f>
              <c:strCache>
                <c:ptCount val="1"/>
                <c:pt idx="0">
                  <c:v>Amount (₹M)</c:v>
                </c:pt>
              </c:strCache>
            </c:strRef>
          </c:tx>
          <c:spPr>
            <a:solidFill>
              <a:srgbClr val="1D4E89"/>
            </a:solidFill>
            <a:effectLst/>
          </c:spPr>
          <c:invertIfNegative val="0"/>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Sheet1!$A$2:$A$8</c:f>
              <c:multiLvlStrCache>
                <c:ptCount val="7"/>
                <c:lvl>
                  <c:pt idx="0">
                    <c:v>UPI</c:v>
                  </c:pt>
                  <c:pt idx="1">
                    <c:v>Branch</c:v>
                  </c:pt>
                  <c:pt idx="2">
                    <c:v>ATM</c:v>
                  </c:pt>
                  <c:pt idx="3">
                    <c:v>Mobile App</c:v>
                  </c:pt>
                  <c:pt idx="4">
                    <c:v>POS</c:v>
                  </c:pt>
                  <c:pt idx="5">
                    <c:v>Auto Debit</c:v>
                  </c:pt>
                  <c:pt idx="6">
                    <c:v>Net Banking</c:v>
                  </c:pt>
                </c:lvl>
              </c:multiLvlStrCache>
            </c:multiLvlStrRef>
          </c:cat>
          <c:val>
            <c:numRef>
              <c:f>Sheet1!$B$2:$B$8</c:f>
              <c:numCache>
                <c:formatCode>General</c:formatCode>
                <c:ptCount val="7"/>
                <c:pt idx="0">
                  <c:v>66.1</c:v>
                </c:pt>
                <c:pt idx="1">
                  <c:v>65.7</c:v>
                </c:pt>
                <c:pt idx="2">
                  <c:v>65.3</c:v>
                </c:pt>
                <c:pt idx="3">
                  <c:v>64.9</c:v>
                </c:pt>
                <c:pt idx="4">
                  <c:v>64.9</c:v>
                </c:pt>
                <c:pt idx="5">
                  <c:v>64.6</c:v>
                </c:pt>
                <c:pt idx="6">
                  <c:v>64.4</c:v>
                </c:pt>
              </c:numCache>
            </c:numRef>
          </c:val>
        </c:ser>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walks through the Finance Analysis dashboard built in Power BI: the data, the model, the measures, the visuals, and what the numbers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was to turn two raw CSV files into a single interactive report that a finance manager can use to track value, volume, fees and tax, and drill into who is transacting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a simple star-style design. Customers is the dimension; finance_transactions is the fact table with a many-to-one relationship on customer_id. The Calendar table supports year-over-year logic, and Dynamic Metric powers the metric 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was done in Power Query. While profiling the data I also found a few quality issues worth fixing next: a mistyped channel label, whitespace in labels, duplicate transaction IDs and a few negative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core metric follows the same pattern: base measure, prior-year using SAMEPERIODLASTYEAR, the difference, and the percentage change using DIVIDE to avoid divide-by-zero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wireframe is drawn to scale from the real report layout. Slicers sit in the left rail, the KPI strip is at the top and the six visuals below are cross-filtered by every slicer and by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opens on 2025. Value is up 1.5% and the average ticket is up 2.1%, but unique transaction count is down 0.5%, so growth came from larger tickets, not more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Annual value is almost flat across 2023, 2024 and 2025. Month-to-month swings are modest and the peak month moves around from year to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Loan EMI and Transfer together are about 55% of value; adding Deposits takes the top three to 70%. Fee Charge and Refund are the smallest.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Failed and pending transactions represent about 66 million rupees of value that did not complete. The failure rate is about 10% every year, so it is a structural issue, not a one-off.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dominates because it has the most customers, not because its tickets are bigger. Average transaction value is about 9,000 rupees in every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Maharashtra, Karnataka and Gujarat together contribute about 171 million rupees. The remaining states each contribute less than 10% of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goes slightly beyond the dashboard visuals. I cleaned the channel labels (merging M@bile App into Mobile App) and looked at the fraud and risk-score columns that are in the data model but not on the report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dashboard shows steady value, concentrated by type, segment and state, with about 15 percent of value failing or pending. The recommendations focus on cleaning data, reducing failures, growing outside the top states and putting the fraud and risk fields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9D9A"/>
          </a:solidFill>
          <a:ln w="12700">
            <a:solidFill>
              <a:srgbClr val="0F9D9A"/>
            </a:solidFill>
            <a:prstDash val="solid"/>
          </a:ln>
        </p:spPr>
      </p:sp>
      <p:sp>
        <p:nvSpPr>
          <p:cNvPr id="3" name="Text 1"/>
          <p:cNvSpPr txBox="1"/>
          <p:nvPr/>
        </p:nvSpPr>
        <p:spPr>
          <a:xfrm>
            <a:off x="822960" y="1463040"/>
            <a:ext cx="6400800" cy="365760"/>
          </a:xfrm>
          <a:prstGeom prst="rect">
            <a:avLst/>
          </a:prstGeom>
          <a:noFill/>
          <a:ln/>
        </p:spPr>
        <p:txBody>
          <a:bodyPr wrap="square" lIns="0" tIns="0" rIns="0" bIns="0" rtlCol="0" anchor="ctr"/>
          <a:lstStyle/>
          <a:p>
            <a:pPr indent="0" marL="0">
              <a:buNone/>
            </a:pPr>
            <a:r>
              <a:rPr lang="en-US" sz="1400" b="1" spc="400" kern="0" dirty="0">
                <a:solidFill>
                  <a:srgbClr val="F2A541"/>
                </a:solidFill>
                <a:latin typeface="Calibri" pitchFamily="34" charset="0"/>
                <a:ea typeface="Calibri" pitchFamily="34" charset="-122"/>
                <a:cs typeface="Calibri" pitchFamily="34" charset="-120"/>
              </a:rPr>
              <a:t>POWER BI PROJECT</a:t>
            </a:r>
            <a:endParaRPr lang="en-US" sz="1400" dirty="0"/>
          </a:p>
        </p:txBody>
      </p:sp>
      <p:sp>
        <p:nvSpPr>
          <p:cNvPr id="4" name="Text 2"/>
          <p:cNvSpPr txBox="1"/>
          <p:nvPr/>
        </p:nvSpPr>
        <p:spPr>
          <a:xfrm>
            <a:off x="822960" y="1920240"/>
            <a:ext cx="6949440" cy="164592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Finance Transactions Analysis</a:t>
            </a:r>
            <a:endParaRPr lang="en-US" sz="4600" dirty="0"/>
          </a:p>
        </p:txBody>
      </p:sp>
      <p:sp>
        <p:nvSpPr>
          <p:cNvPr id="5" name="Text 3"/>
          <p:cNvSpPr txBox="1"/>
          <p:nvPr/>
        </p:nvSpPr>
        <p:spPr>
          <a:xfrm>
            <a:off x="822960" y="3749040"/>
            <a:ext cx="6583680" cy="822960"/>
          </a:xfrm>
          <a:prstGeom prst="rect">
            <a:avLst/>
          </a:prstGeom>
          <a:noFill/>
          <a:ln/>
        </p:spPr>
        <p:txBody>
          <a:bodyPr wrap="square" lIns="0" tIns="0" rIns="0" bIns="0" rtlCol="0" anchor="t"/>
          <a:lstStyle/>
          <a:p>
            <a:pPr indent="0" marL="0">
              <a:buNone/>
            </a:pPr>
            <a:r>
              <a:rPr lang="en-US" sz="1800" dirty="0">
                <a:solidFill>
                  <a:srgbClr val="C9D6EA"/>
                </a:solidFill>
                <a:latin typeface="Calibri" pitchFamily="34" charset="0"/>
                <a:ea typeface="Calibri" pitchFamily="34" charset="-122"/>
                <a:cs typeface="Calibri" pitchFamily="34" charset="-120"/>
              </a:rPr>
              <a:t>An interactive dashboard on transaction value, customers, geography and risk</a:t>
            </a:r>
            <a:endParaRPr lang="en-US" sz="1800" dirty="0"/>
          </a:p>
        </p:txBody>
      </p:sp>
      <p:sp>
        <p:nvSpPr>
          <p:cNvPr id="6" name="Text 4"/>
          <p:cNvSpPr txBox="1"/>
          <p:nvPr/>
        </p:nvSpPr>
        <p:spPr>
          <a:xfrm>
            <a:off x="822960" y="4754880"/>
            <a:ext cx="6400800" cy="73152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By – Sujay Purkait</a:t>
            </a:r>
            <a:endParaRPr lang="en-US" sz="1800" dirty="0"/>
          </a:p>
          <a:p>
            <a:pPr indent="0" marL="0">
              <a:spcAft>
                <a:spcPts val="400"/>
              </a:spcAft>
              <a:buNone/>
            </a:pPr>
            <a:r>
              <a:rPr lang="en-US" sz="1800" dirty="0">
                <a:solidFill>
                  <a:srgbClr val="C9D6EA"/>
                </a:solidFill>
                <a:latin typeface="Calibri" pitchFamily="34" charset="0"/>
                <a:ea typeface="Calibri" pitchFamily="34" charset="-122"/>
                <a:cs typeface="Calibri" pitchFamily="34" charset="-120"/>
              </a:rPr>
              <a:t>Student code – AF05252181</a:t>
            </a:r>
            <a:endParaRPr lang="en-US" sz="1800" dirty="0"/>
          </a:p>
        </p:txBody>
      </p:sp>
      <p:sp>
        <p:nvSpPr>
          <p:cNvPr id="7" name="Text 5"/>
          <p:cNvSpPr txBox="1"/>
          <p:nvPr/>
        </p:nvSpPr>
        <p:spPr>
          <a:xfrm>
            <a:off x="822960" y="5760720"/>
            <a:ext cx="6400800" cy="365760"/>
          </a:xfrm>
          <a:prstGeom prst="rect">
            <a:avLst/>
          </a:prstGeom>
          <a:noFill/>
          <a:ln/>
        </p:spPr>
        <p:txBody>
          <a:bodyPr wrap="square" lIns="0" tIns="0" rIns="0" bIns="0" rtlCol="0" anchor="ctr"/>
          <a:lstStyle/>
          <a:p>
            <a:pPr indent="0" marL="0">
              <a:buNone/>
            </a:pPr>
            <a:r>
              <a:rPr lang="en-US" sz="1400" dirty="0">
                <a:solidFill>
                  <a:srgbClr val="9FB3D1"/>
                </a:solidFill>
                <a:latin typeface="Calibri" pitchFamily="34" charset="0"/>
                <a:ea typeface="Calibri" pitchFamily="34" charset="-122"/>
                <a:cs typeface="Calibri" pitchFamily="34" charset="-120"/>
              </a:rPr>
              <a:t>Data period: Jan 2023 – Apr 2026  ·  Sources: finance_transactions.csv, customers.csv</a:t>
            </a:r>
            <a:endParaRPr lang="en-US" sz="1400" dirty="0"/>
          </a:p>
        </p:txBody>
      </p:sp>
      <p:sp>
        <p:nvSpPr>
          <p:cNvPr id="8" name="Shape 6"/>
          <p:cNvSpPr/>
          <p:nvPr/>
        </p:nvSpPr>
        <p:spPr>
          <a:xfrm>
            <a:off x="8138160" y="1463040"/>
            <a:ext cx="3566160" cy="1280160"/>
          </a:xfrm>
          <a:prstGeom prst="rect">
            <a:avLst/>
          </a:prstGeom>
          <a:solidFill>
            <a:srgbClr val="1D4E89"/>
          </a:solidFill>
          <a:ln w="12700">
            <a:solidFill>
              <a:srgbClr val="1D4E89"/>
            </a:solidFill>
            <a:prstDash val="solid"/>
          </a:ln>
        </p:spPr>
      </p:sp>
      <p:sp>
        <p:nvSpPr>
          <p:cNvPr id="9" name="Text 7"/>
          <p:cNvSpPr txBox="1"/>
          <p:nvPr/>
        </p:nvSpPr>
        <p:spPr>
          <a:xfrm>
            <a:off x="8412480" y="1600200"/>
            <a:ext cx="310896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50,045</a:t>
            </a:r>
            <a:endParaRPr lang="en-US" sz="3400" dirty="0"/>
          </a:p>
        </p:txBody>
      </p:sp>
      <p:sp>
        <p:nvSpPr>
          <p:cNvPr id="10" name="Text 8"/>
          <p:cNvSpPr txBox="1"/>
          <p:nvPr/>
        </p:nvSpPr>
        <p:spPr>
          <a:xfrm>
            <a:off x="8412480" y="2240280"/>
            <a:ext cx="3108960" cy="365760"/>
          </a:xfrm>
          <a:prstGeom prst="rect">
            <a:avLst/>
          </a:prstGeom>
          <a:noFill/>
          <a:ln/>
        </p:spPr>
        <p:txBody>
          <a:bodyPr wrap="square" lIns="0" tIns="0" rIns="0" bIns="0" rtlCol="0" anchor="ctr"/>
          <a:lstStyle/>
          <a:p>
            <a:pPr indent="0" marL="0">
              <a:buNone/>
            </a:pPr>
            <a:r>
              <a:rPr lang="en-US" sz="1400" dirty="0">
                <a:solidFill>
                  <a:srgbClr val="C9D6EA"/>
                </a:solidFill>
                <a:latin typeface="Calibri" pitchFamily="34" charset="0"/>
                <a:ea typeface="Calibri" pitchFamily="34" charset="-122"/>
                <a:cs typeface="Calibri" pitchFamily="34" charset="-120"/>
              </a:rPr>
              <a:t>transactions analysed</a:t>
            </a:r>
            <a:endParaRPr lang="en-US" sz="1400" dirty="0"/>
          </a:p>
        </p:txBody>
      </p:sp>
      <p:sp>
        <p:nvSpPr>
          <p:cNvPr id="11" name="Shape 9"/>
          <p:cNvSpPr/>
          <p:nvPr/>
        </p:nvSpPr>
        <p:spPr>
          <a:xfrm>
            <a:off x="8138160" y="3017520"/>
            <a:ext cx="3566160" cy="1280160"/>
          </a:xfrm>
          <a:prstGeom prst="rect">
            <a:avLst/>
          </a:prstGeom>
          <a:solidFill>
            <a:srgbClr val="1D4E89"/>
          </a:solidFill>
          <a:ln w="12700">
            <a:solidFill>
              <a:srgbClr val="1D4E89"/>
            </a:solidFill>
            <a:prstDash val="solid"/>
          </a:ln>
        </p:spPr>
      </p:sp>
      <p:sp>
        <p:nvSpPr>
          <p:cNvPr id="12" name="Text 10"/>
          <p:cNvSpPr txBox="1"/>
          <p:nvPr/>
        </p:nvSpPr>
        <p:spPr>
          <a:xfrm>
            <a:off x="8412480" y="3154680"/>
            <a:ext cx="310896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5,000</a:t>
            </a:r>
            <a:endParaRPr lang="en-US" sz="3400" dirty="0"/>
          </a:p>
        </p:txBody>
      </p:sp>
      <p:sp>
        <p:nvSpPr>
          <p:cNvPr id="13" name="Text 11"/>
          <p:cNvSpPr txBox="1"/>
          <p:nvPr/>
        </p:nvSpPr>
        <p:spPr>
          <a:xfrm>
            <a:off x="8412480" y="3794760"/>
            <a:ext cx="3108960" cy="365760"/>
          </a:xfrm>
          <a:prstGeom prst="rect">
            <a:avLst/>
          </a:prstGeom>
          <a:noFill/>
          <a:ln/>
        </p:spPr>
        <p:txBody>
          <a:bodyPr wrap="square" lIns="0" tIns="0" rIns="0" bIns="0" rtlCol="0" anchor="ctr"/>
          <a:lstStyle/>
          <a:p>
            <a:pPr indent="0" marL="0">
              <a:buNone/>
            </a:pPr>
            <a:r>
              <a:rPr lang="en-US" sz="1400" dirty="0">
                <a:solidFill>
                  <a:srgbClr val="C9D6EA"/>
                </a:solidFill>
                <a:latin typeface="Calibri" pitchFamily="34" charset="0"/>
                <a:ea typeface="Calibri" pitchFamily="34" charset="-122"/>
                <a:cs typeface="Calibri" pitchFamily="34" charset="-120"/>
              </a:rPr>
              <a:t>customers</a:t>
            </a:r>
            <a:endParaRPr lang="en-US" sz="1400" dirty="0"/>
          </a:p>
        </p:txBody>
      </p:sp>
      <p:sp>
        <p:nvSpPr>
          <p:cNvPr id="14" name="Shape 12"/>
          <p:cNvSpPr/>
          <p:nvPr/>
        </p:nvSpPr>
        <p:spPr>
          <a:xfrm>
            <a:off x="8138160" y="4572000"/>
            <a:ext cx="3566160" cy="1280160"/>
          </a:xfrm>
          <a:prstGeom prst="rect">
            <a:avLst/>
          </a:prstGeom>
          <a:solidFill>
            <a:srgbClr val="1D4E89"/>
          </a:solidFill>
          <a:ln w="12700">
            <a:solidFill>
              <a:srgbClr val="1D4E89"/>
            </a:solidFill>
            <a:prstDash val="solid"/>
          </a:ln>
        </p:spPr>
      </p:sp>
      <p:sp>
        <p:nvSpPr>
          <p:cNvPr id="15" name="Text 13"/>
          <p:cNvSpPr txBox="1"/>
          <p:nvPr/>
        </p:nvSpPr>
        <p:spPr>
          <a:xfrm>
            <a:off x="8412480" y="4709160"/>
            <a:ext cx="310896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₹455.9M</a:t>
            </a:r>
            <a:endParaRPr lang="en-US" sz="3400" dirty="0"/>
          </a:p>
        </p:txBody>
      </p:sp>
      <p:sp>
        <p:nvSpPr>
          <p:cNvPr id="16" name="Text 14"/>
          <p:cNvSpPr txBox="1"/>
          <p:nvPr/>
        </p:nvSpPr>
        <p:spPr>
          <a:xfrm>
            <a:off x="8412480" y="5349240"/>
            <a:ext cx="3108960" cy="365760"/>
          </a:xfrm>
          <a:prstGeom prst="rect">
            <a:avLst/>
          </a:prstGeom>
          <a:noFill/>
          <a:ln/>
        </p:spPr>
        <p:txBody>
          <a:bodyPr wrap="square" lIns="0" tIns="0" rIns="0" bIns="0" rtlCol="0" anchor="ctr"/>
          <a:lstStyle/>
          <a:p>
            <a:pPr indent="0" marL="0">
              <a:buNone/>
            </a:pPr>
            <a:r>
              <a:rPr lang="en-US" sz="1400" dirty="0">
                <a:solidFill>
                  <a:srgbClr val="C9D6EA"/>
                </a:solidFill>
                <a:latin typeface="Calibri" pitchFamily="34" charset="0"/>
                <a:ea typeface="Calibri" pitchFamily="34" charset="-122"/>
                <a:cs typeface="Calibri" pitchFamily="34" charset="-120"/>
              </a:rPr>
              <a:t>total transaction value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Agenda</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371600"/>
            <a:ext cx="5394960" cy="658368"/>
          </a:xfrm>
          <a:prstGeom prst="rect">
            <a:avLst/>
          </a:prstGeom>
          <a:solidFill>
            <a:srgbClr val="FFFFFF"/>
          </a:solidFill>
          <a:ln w="9525">
            <a:solidFill>
              <a:srgbClr val="E2E8F0"/>
            </a:solidFill>
            <a:prstDash val="solid"/>
          </a:ln>
        </p:spPr>
      </p:sp>
      <p:sp>
        <p:nvSpPr>
          <p:cNvPr id="6" name="Text 4"/>
          <p:cNvSpPr txBox="1"/>
          <p:nvPr/>
        </p:nvSpPr>
        <p:spPr>
          <a:xfrm>
            <a:off x="731520" y="1371600"/>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01</a:t>
            </a:r>
            <a:endParaRPr lang="en-US" sz="2000" dirty="0"/>
          </a:p>
        </p:txBody>
      </p:sp>
      <p:sp>
        <p:nvSpPr>
          <p:cNvPr id="7" name="Text 5"/>
          <p:cNvSpPr txBox="1"/>
          <p:nvPr/>
        </p:nvSpPr>
        <p:spPr>
          <a:xfrm>
            <a:off x="1463040" y="1371600"/>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Project overview &amp; objectives</a:t>
            </a:r>
            <a:endParaRPr lang="en-US" sz="1600" dirty="0"/>
          </a:p>
        </p:txBody>
      </p:sp>
      <p:sp>
        <p:nvSpPr>
          <p:cNvPr id="8" name="Shape 6"/>
          <p:cNvSpPr/>
          <p:nvPr/>
        </p:nvSpPr>
        <p:spPr>
          <a:xfrm>
            <a:off x="548640" y="2176272"/>
            <a:ext cx="5394960" cy="658368"/>
          </a:xfrm>
          <a:prstGeom prst="rect">
            <a:avLst/>
          </a:prstGeom>
          <a:solidFill>
            <a:srgbClr val="FFFFFF"/>
          </a:solidFill>
          <a:ln w="9525">
            <a:solidFill>
              <a:srgbClr val="E2E8F0"/>
            </a:solidFill>
            <a:prstDash val="solid"/>
          </a:ln>
        </p:spPr>
      </p:sp>
      <p:sp>
        <p:nvSpPr>
          <p:cNvPr id="9" name="Text 7"/>
          <p:cNvSpPr txBox="1"/>
          <p:nvPr/>
        </p:nvSpPr>
        <p:spPr>
          <a:xfrm>
            <a:off x="731520" y="2176272"/>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02</a:t>
            </a:r>
            <a:endParaRPr lang="en-US" sz="2000" dirty="0"/>
          </a:p>
        </p:txBody>
      </p:sp>
      <p:sp>
        <p:nvSpPr>
          <p:cNvPr id="10" name="Text 8"/>
          <p:cNvSpPr txBox="1"/>
          <p:nvPr/>
        </p:nvSpPr>
        <p:spPr>
          <a:xfrm>
            <a:off x="1463040" y="2176272"/>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Data sources &amp; data model</a:t>
            </a:r>
            <a:endParaRPr lang="en-US" sz="1600" dirty="0"/>
          </a:p>
        </p:txBody>
      </p:sp>
      <p:sp>
        <p:nvSpPr>
          <p:cNvPr id="11" name="Shape 9"/>
          <p:cNvSpPr/>
          <p:nvPr/>
        </p:nvSpPr>
        <p:spPr>
          <a:xfrm>
            <a:off x="548640" y="2980944"/>
            <a:ext cx="5394960" cy="658368"/>
          </a:xfrm>
          <a:prstGeom prst="rect">
            <a:avLst/>
          </a:prstGeom>
          <a:solidFill>
            <a:srgbClr val="FFFFFF"/>
          </a:solidFill>
          <a:ln w="9525">
            <a:solidFill>
              <a:srgbClr val="E2E8F0"/>
            </a:solidFill>
            <a:prstDash val="solid"/>
          </a:ln>
        </p:spPr>
      </p:sp>
      <p:sp>
        <p:nvSpPr>
          <p:cNvPr id="12" name="Text 10"/>
          <p:cNvSpPr txBox="1"/>
          <p:nvPr/>
        </p:nvSpPr>
        <p:spPr>
          <a:xfrm>
            <a:off x="731520" y="2980944"/>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03</a:t>
            </a:r>
            <a:endParaRPr lang="en-US" sz="2000" dirty="0"/>
          </a:p>
        </p:txBody>
      </p:sp>
      <p:sp>
        <p:nvSpPr>
          <p:cNvPr id="13" name="Text 11"/>
          <p:cNvSpPr txBox="1"/>
          <p:nvPr/>
        </p:nvSpPr>
        <p:spPr>
          <a:xfrm>
            <a:off x="1463040" y="2980944"/>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Data preparation &amp; quality</a:t>
            </a:r>
            <a:endParaRPr lang="en-US" sz="1600" dirty="0"/>
          </a:p>
        </p:txBody>
      </p:sp>
      <p:sp>
        <p:nvSpPr>
          <p:cNvPr id="14" name="Shape 12"/>
          <p:cNvSpPr/>
          <p:nvPr/>
        </p:nvSpPr>
        <p:spPr>
          <a:xfrm>
            <a:off x="548640" y="3785616"/>
            <a:ext cx="5394960" cy="658368"/>
          </a:xfrm>
          <a:prstGeom prst="rect">
            <a:avLst/>
          </a:prstGeom>
          <a:solidFill>
            <a:srgbClr val="FFFFFF"/>
          </a:solidFill>
          <a:ln w="9525">
            <a:solidFill>
              <a:srgbClr val="E2E8F0"/>
            </a:solidFill>
            <a:prstDash val="solid"/>
          </a:ln>
        </p:spPr>
      </p:sp>
      <p:sp>
        <p:nvSpPr>
          <p:cNvPr id="15" name="Text 13"/>
          <p:cNvSpPr txBox="1"/>
          <p:nvPr/>
        </p:nvSpPr>
        <p:spPr>
          <a:xfrm>
            <a:off x="731520" y="3785616"/>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04</a:t>
            </a:r>
            <a:endParaRPr lang="en-US" sz="2000" dirty="0"/>
          </a:p>
        </p:txBody>
      </p:sp>
      <p:sp>
        <p:nvSpPr>
          <p:cNvPr id="16" name="Text 14"/>
          <p:cNvSpPr txBox="1"/>
          <p:nvPr/>
        </p:nvSpPr>
        <p:spPr>
          <a:xfrm>
            <a:off x="1463040" y="3785616"/>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DAX measures</a:t>
            </a:r>
            <a:endParaRPr lang="en-US" sz="1600" dirty="0"/>
          </a:p>
        </p:txBody>
      </p:sp>
      <p:sp>
        <p:nvSpPr>
          <p:cNvPr id="17" name="Shape 15"/>
          <p:cNvSpPr/>
          <p:nvPr/>
        </p:nvSpPr>
        <p:spPr>
          <a:xfrm>
            <a:off x="548640" y="4590288"/>
            <a:ext cx="5394960" cy="658368"/>
          </a:xfrm>
          <a:prstGeom prst="rect">
            <a:avLst/>
          </a:prstGeom>
          <a:solidFill>
            <a:srgbClr val="FFFFFF"/>
          </a:solidFill>
          <a:ln w="9525">
            <a:solidFill>
              <a:srgbClr val="E2E8F0"/>
            </a:solidFill>
            <a:prstDash val="solid"/>
          </a:ln>
        </p:spPr>
      </p:sp>
      <p:sp>
        <p:nvSpPr>
          <p:cNvPr id="18" name="Text 16"/>
          <p:cNvSpPr txBox="1"/>
          <p:nvPr/>
        </p:nvSpPr>
        <p:spPr>
          <a:xfrm>
            <a:off x="731520" y="4590288"/>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05</a:t>
            </a:r>
            <a:endParaRPr lang="en-US" sz="2000" dirty="0"/>
          </a:p>
        </p:txBody>
      </p:sp>
      <p:sp>
        <p:nvSpPr>
          <p:cNvPr id="19" name="Text 17"/>
          <p:cNvSpPr txBox="1"/>
          <p:nvPr/>
        </p:nvSpPr>
        <p:spPr>
          <a:xfrm>
            <a:off x="1463040" y="4590288"/>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Dashboard design &amp; interactivity</a:t>
            </a:r>
            <a:endParaRPr lang="en-US" sz="1600" dirty="0"/>
          </a:p>
        </p:txBody>
      </p:sp>
      <p:sp>
        <p:nvSpPr>
          <p:cNvPr id="20" name="Shape 18"/>
          <p:cNvSpPr/>
          <p:nvPr/>
        </p:nvSpPr>
        <p:spPr>
          <a:xfrm>
            <a:off x="548640" y="5394960"/>
            <a:ext cx="5394960" cy="658368"/>
          </a:xfrm>
          <a:prstGeom prst="rect">
            <a:avLst/>
          </a:prstGeom>
          <a:solidFill>
            <a:srgbClr val="FFFFFF"/>
          </a:solidFill>
          <a:ln w="9525">
            <a:solidFill>
              <a:srgbClr val="E2E8F0"/>
            </a:solidFill>
            <a:prstDash val="solid"/>
          </a:ln>
        </p:spPr>
      </p:sp>
      <p:sp>
        <p:nvSpPr>
          <p:cNvPr id="21" name="Text 19"/>
          <p:cNvSpPr txBox="1"/>
          <p:nvPr/>
        </p:nvSpPr>
        <p:spPr>
          <a:xfrm>
            <a:off x="731520" y="5394960"/>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06</a:t>
            </a:r>
            <a:endParaRPr lang="en-US" sz="2000" dirty="0"/>
          </a:p>
        </p:txBody>
      </p:sp>
      <p:sp>
        <p:nvSpPr>
          <p:cNvPr id="22" name="Text 20"/>
          <p:cNvSpPr txBox="1"/>
          <p:nvPr/>
        </p:nvSpPr>
        <p:spPr>
          <a:xfrm>
            <a:off x="1463040" y="5394960"/>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KPI summary</a:t>
            </a:r>
            <a:endParaRPr lang="en-US" sz="1600" dirty="0"/>
          </a:p>
        </p:txBody>
      </p:sp>
      <p:sp>
        <p:nvSpPr>
          <p:cNvPr id="23" name="Shape 21"/>
          <p:cNvSpPr/>
          <p:nvPr/>
        </p:nvSpPr>
        <p:spPr>
          <a:xfrm>
            <a:off x="6217920" y="1371600"/>
            <a:ext cx="5394960" cy="658368"/>
          </a:xfrm>
          <a:prstGeom prst="rect">
            <a:avLst/>
          </a:prstGeom>
          <a:solidFill>
            <a:srgbClr val="FFFFFF"/>
          </a:solidFill>
          <a:ln w="9525">
            <a:solidFill>
              <a:srgbClr val="E2E8F0"/>
            </a:solidFill>
            <a:prstDash val="solid"/>
          </a:ln>
        </p:spPr>
      </p:sp>
      <p:sp>
        <p:nvSpPr>
          <p:cNvPr id="24" name="Text 22"/>
          <p:cNvSpPr txBox="1"/>
          <p:nvPr/>
        </p:nvSpPr>
        <p:spPr>
          <a:xfrm>
            <a:off x="6400800" y="1371600"/>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07</a:t>
            </a:r>
            <a:endParaRPr lang="en-US" sz="2000" dirty="0"/>
          </a:p>
        </p:txBody>
      </p:sp>
      <p:sp>
        <p:nvSpPr>
          <p:cNvPr id="25" name="Text 23"/>
          <p:cNvSpPr txBox="1"/>
          <p:nvPr/>
        </p:nvSpPr>
        <p:spPr>
          <a:xfrm>
            <a:off x="7132320" y="1371600"/>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Trend analysis</a:t>
            </a:r>
            <a:endParaRPr lang="en-US" sz="1600" dirty="0"/>
          </a:p>
        </p:txBody>
      </p:sp>
      <p:sp>
        <p:nvSpPr>
          <p:cNvPr id="26" name="Shape 24"/>
          <p:cNvSpPr/>
          <p:nvPr/>
        </p:nvSpPr>
        <p:spPr>
          <a:xfrm>
            <a:off x="6217920" y="2176272"/>
            <a:ext cx="5394960" cy="658368"/>
          </a:xfrm>
          <a:prstGeom prst="rect">
            <a:avLst/>
          </a:prstGeom>
          <a:solidFill>
            <a:srgbClr val="FFFFFF"/>
          </a:solidFill>
          <a:ln w="9525">
            <a:solidFill>
              <a:srgbClr val="E2E8F0"/>
            </a:solidFill>
            <a:prstDash val="solid"/>
          </a:ln>
        </p:spPr>
      </p:sp>
      <p:sp>
        <p:nvSpPr>
          <p:cNvPr id="27" name="Text 25"/>
          <p:cNvSpPr txBox="1"/>
          <p:nvPr/>
        </p:nvSpPr>
        <p:spPr>
          <a:xfrm>
            <a:off x="6400800" y="2176272"/>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08</a:t>
            </a:r>
            <a:endParaRPr lang="en-US" sz="2000" dirty="0"/>
          </a:p>
        </p:txBody>
      </p:sp>
      <p:sp>
        <p:nvSpPr>
          <p:cNvPr id="28" name="Text 26"/>
          <p:cNvSpPr txBox="1"/>
          <p:nvPr/>
        </p:nvSpPr>
        <p:spPr>
          <a:xfrm>
            <a:off x="7132320" y="2176272"/>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Transaction type &amp; status</a:t>
            </a:r>
            <a:endParaRPr lang="en-US" sz="1600" dirty="0"/>
          </a:p>
        </p:txBody>
      </p:sp>
      <p:sp>
        <p:nvSpPr>
          <p:cNvPr id="29" name="Shape 27"/>
          <p:cNvSpPr/>
          <p:nvPr/>
        </p:nvSpPr>
        <p:spPr>
          <a:xfrm>
            <a:off x="6217920" y="2980944"/>
            <a:ext cx="5394960" cy="658368"/>
          </a:xfrm>
          <a:prstGeom prst="rect">
            <a:avLst/>
          </a:prstGeom>
          <a:solidFill>
            <a:srgbClr val="FFFFFF"/>
          </a:solidFill>
          <a:ln w="9525">
            <a:solidFill>
              <a:srgbClr val="E2E8F0"/>
            </a:solidFill>
            <a:prstDash val="solid"/>
          </a:ln>
        </p:spPr>
      </p:sp>
      <p:sp>
        <p:nvSpPr>
          <p:cNvPr id="30" name="Text 28"/>
          <p:cNvSpPr txBox="1"/>
          <p:nvPr/>
        </p:nvSpPr>
        <p:spPr>
          <a:xfrm>
            <a:off x="6400800" y="2980944"/>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09</a:t>
            </a:r>
            <a:endParaRPr lang="en-US" sz="2000" dirty="0"/>
          </a:p>
        </p:txBody>
      </p:sp>
      <p:sp>
        <p:nvSpPr>
          <p:cNvPr id="31" name="Text 29"/>
          <p:cNvSpPr txBox="1"/>
          <p:nvPr/>
        </p:nvSpPr>
        <p:spPr>
          <a:xfrm>
            <a:off x="7132320" y="2980944"/>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Customer &amp; geographic analysis</a:t>
            </a:r>
            <a:endParaRPr lang="en-US" sz="1600" dirty="0"/>
          </a:p>
        </p:txBody>
      </p:sp>
      <p:sp>
        <p:nvSpPr>
          <p:cNvPr id="32" name="Shape 30"/>
          <p:cNvSpPr/>
          <p:nvPr/>
        </p:nvSpPr>
        <p:spPr>
          <a:xfrm>
            <a:off x="6217920" y="3785616"/>
            <a:ext cx="5394960" cy="658368"/>
          </a:xfrm>
          <a:prstGeom prst="rect">
            <a:avLst/>
          </a:prstGeom>
          <a:solidFill>
            <a:srgbClr val="FFFFFF"/>
          </a:solidFill>
          <a:ln w="9525">
            <a:solidFill>
              <a:srgbClr val="E2E8F0"/>
            </a:solidFill>
            <a:prstDash val="solid"/>
          </a:ln>
        </p:spPr>
      </p:sp>
      <p:sp>
        <p:nvSpPr>
          <p:cNvPr id="33" name="Text 31"/>
          <p:cNvSpPr txBox="1"/>
          <p:nvPr/>
        </p:nvSpPr>
        <p:spPr>
          <a:xfrm>
            <a:off x="6400800" y="3785616"/>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10</a:t>
            </a:r>
            <a:endParaRPr lang="en-US" sz="2000" dirty="0"/>
          </a:p>
        </p:txBody>
      </p:sp>
      <p:sp>
        <p:nvSpPr>
          <p:cNvPr id="34" name="Text 32"/>
          <p:cNvSpPr txBox="1"/>
          <p:nvPr/>
        </p:nvSpPr>
        <p:spPr>
          <a:xfrm>
            <a:off x="7132320" y="3785616"/>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Channels, risk &amp; fraud</a:t>
            </a:r>
            <a:endParaRPr lang="en-US" sz="1600" dirty="0"/>
          </a:p>
        </p:txBody>
      </p:sp>
      <p:sp>
        <p:nvSpPr>
          <p:cNvPr id="35" name="Shape 33"/>
          <p:cNvSpPr/>
          <p:nvPr/>
        </p:nvSpPr>
        <p:spPr>
          <a:xfrm>
            <a:off x="6217920" y="4590288"/>
            <a:ext cx="5394960" cy="658368"/>
          </a:xfrm>
          <a:prstGeom prst="rect">
            <a:avLst/>
          </a:prstGeom>
          <a:solidFill>
            <a:srgbClr val="FFFFFF"/>
          </a:solidFill>
          <a:ln w="9525">
            <a:solidFill>
              <a:srgbClr val="E2E8F0"/>
            </a:solidFill>
            <a:prstDash val="solid"/>
          </a:ln>
        </p:spPr>
      </p:sp>
      <p:sp>
        <p:nvSpPr>
          <p:cNvPr id="36" name="Text 34"/>
          <p:cNvSpPr txBox="1"/>
          <p:nvPr/>
        </p:nvSpPr>
        <p:spPr>
          <a:xfrm>
            <a:off x="6400800" y="4590288"/>
            <a:ext cx="640080" cy="658368"/>
          </a:xfrm>
          <a:prstGeom prst="rect">
            <a:avLst/>
          </a:prstGeom>
          <a:noFill/>
          <a:ln/>
        </p:spPr>
        <p:txBody>
          <a:bodyPr wrap="square" lIns="0" tIns="0" rIns="0" bIns="0" rtlCol="0" anchor="ctr"/>
          <a:lstStyle/>
          <a:p>
            <a:pPr indent="0" marL="0">
              <a:buNone/>
            </a:pPr>
            <a:r>
              <a:rPr lang="en-US" sz="2000" b="1" dirty="0">
                <a:solidFill>
                  <a:srgbClr val="0F9D9A"/>
                </a:solidFill>
                <a:latin typeface="Calibri" pitchFamily="34" charset="0"/>
                <a:ea typeface="Calibri" pitchFamily="34" charset="-122"/>
                <a:cs typeface="Calibri" pitchFamily="34" charset="-120"/>
              </a:rPr>
              <a:t>11</a:t>
            </a:r>
            <a:endParaRPr lang="en-US" sz="2000" dirty="0"/>
          </a:p>
        </p:txBody>
      </p:sp>
      <p:sp>
        <p:nvSpPr>
          <p:cNvPr id="37" name="Text 35"/>
          <p:cNvSpPr txBox="1"/>
          <p:nvPr/>
        </p:nvSpPr>
        <p:spPr>
          <a:xfrm>
            <a:off x="7132320" y="4590288"/>
            <a:ext cx="4389120" cy="658368"/>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Conclusion &amp; recommendations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Project overview: one dashboard for the full transaction picture</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371600"/>
            <a:ext cx="6035040" cy="4754880"/>
          </a:xfrm>
          <a:prstGeom prst="rect">
            <a:avLst/>
          </a:prstGeom>
          <a:solidFill>
            <a:srgbClr val="FFFFFF"/>
          </a:solidFill>
          <a:ln w="9525">
            <a:solidFill>
              <a:srgbClr val="E2E8F0"/>
            </a:solidFill>
            <a:prstDash val="solid"/>
          </a:ln>
        </p:spPr>
      </p:sp>
      <p:sp>
        <p:nvSpPr>
          <p:cNvPr id="7" name="Text 4"/>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Objectives</a:t>
            </a:r>
            <a:endParaRPr lang="en-US" sz="1800" dirty="0"/>
          </a:p>
        </p:txBody>
      </p:sp>
      <p:sp>
        <p:nvSpPr>
          <p:cNvPr id="8" name="Text 5"/>
          <p:cNvSpPr txBox="1"/>
          <p:nvPr/>
        </p:nvSpPr>
        <p:spPr>
          <a:xfrm>
            <a:off x="822960" y="2103120"/>
            <a:ext cx="5577840" cy="384048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Track transaction value, volume, average ticket, fees and tax in one view</a:t>
            </a:r>
            <a:endParaRPr lang="en-US" sz="1500" dirty="0"/>
          </a:p>
          <a:p>
            <a:pPr marL="203200" indent="-2032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Compare each year with the previous year using time-intelligence measures</a:t>
            </a:r>
            <a:endParaRPr lang="en-US" sz="1500" dirty="0"/>
          </a:p>
          <a:p>
            <a:pPr marL="203200" indent="-2032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Understand which customer segments, genders, occupations and states drive value</a:t>
            </a:r>
            <a:endParaRPr lang="en-US" sz="1500" dirty="0"/>
          </a:p>
          <a:p>
            <a:pPr marL="203200" indent="-2032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Break down activity by transaction type, status, channel and merchant category</a:t>
            </a:r>
            <a:endParaRPr lang="en-US" sz="1500" dirty="0"/>
          </a:p>
          <a:p>
            <a:pPr marL="203200" indent="-2032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Let users switch the headline metric and filter the whole page with slicers</a:t>
            </a:r>
            <a:endParaRPr lang="en-US" sz="1500" dirty="0"/>
          </a:p>
        </p:txBody>
      </p:sp>
      <p:sp>
        <p:nvSpPr>
          <p:cNvPr id="9" name="Shape 6"/>
          <p:cNvSpPr/>
          <p:nvPr/>
        </p:nvSpPr>
        <p:spPr>
          <a:xfrm>
            <a:off x="6858000" y="1371600"/>
            <a:ext cx="2331720" cy="2240280"/>
          </a:xfrm>
          <a:prstGeom prst="rect">
            <a:avLst/>
          </a:prstGeom>
          <a:solidFill>
            <a:srgbClr val="FFFFFF"/>
          </a:solidFill>
          <a:ln w="9525">
            <a:solidFill>
              <a:srgbClr val="E2E8F0"/>
            </a:solidFill>
            <a:prstDash val="solid"/>
          </a:ln>
        </p:spPr>
      </p:sp>
      <p:sp>
        <p:nvSpPr>
          <p:cNvPr id="10" name="Text 7"/>
          <p:cNvSpPr txBox="1"/>
          <p:nvPr/>
        </p:nvSpPr>
        <p:spPr>
          <a:xfrm>
            <a:off x="7040880" y="1554480"/>
            <a:ext cx="2011680" cy="731520"/>
          </a:xfrm>
          <a:prstGeom prst="rect">
            <a:avLst/>
          </a:prstGeom>
          <a:noFill/>
          <a:ln/>
        </p:spPr>
        <p:txBody>
          <a:bodyPr wrap="square" lIns="0" tIns="0" rIns="0" bIns="0" rtlCol="0" anchor="ctr"/>
          <a:lstStyle/>
          <a:p>
            <a:pPr indent="0" marL="0">
              <a:buNone/>
            </a:pPr>
            <a:r>
              <a:rPr lang="en-US" sz="4400" b="1" dirty="0">
                <a:solidFill>
                  <a:srgbClr val="0F9D9A"/>
                </a:solidFill>
                <a:latin typeface="Calibri" pitchFamily="34" charset="0"/>
                <a:ea typeface="Calibri" pitchFamily="34" charset="-122"/>
                <a:cs typeface="Calibri" pitchFamily="34" charset="-120"/>
              </a:rPr>
              <a:t>2</a:t>
            </a:r>
            <a:endParaRPr lang="en-US" sz="4400" dirty="0"/>
          </a:p>
        </p:txBody>
      </p:sp>
      <p:sp>
        <p:nvSpPr>
          <p:cNvPr id="11" name="Text 8"/>
          <p:cNvSpPr txBox="1"/>
          <p:nvPr/>
        </p:nvSpPr>
        <p:spPr>
          <a:xfrm>
            <a:off x="7040880" y="2331720"/>
            <a:ext cx="2011680" cy="36576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source tables</a:t>
            </a:r>
            <a:endParaRPr lang="en-US" sz="1500" dirty="0"/>
          </a:p>
        </p:txBody>
      </p:sp>
      <p:sp>
        <p:nvSpPr>
          <p:cNvPr id="12" name="Text 9"/>
          <p:cNvSpPr txBox="1"/>
          <p:nvPr/>
        </p:nvSpPr>
        <p:spPr>
          <a:xfrm>
            <a:off x="7040880" y="2743200"/>
            <a:ext cx="201168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customers + finance_transactions</a:t>
            </a:r>
            <a:endParaRPr lang="en-US" sz="1200" dirty="0"/>
          </a:p>
        </p:txBody>
      </p:sp>
      <p:sp>
        <p:nvSpPr>
          <p:cNvPr id="13" name="Shape 10"/>
          <p:cNvSpPr/>
          <p:nvPr/>
        </p:nvSpPr>
        <p:spPr>
          <a:xfrm>
            <a:off x="9372600" y="1371600"/>
            <a:ext cx="2331720" cy="2240280"/>
          </a:xfrm>
          <a:prstGeom prst="rect">
            <a:avLst/>
          </a:prstGeom>
          <a:solidFill>
            <a:srgbClr val="FFFFFF"/>
          </a:solidFill>
          <a:ln w="9525">
            <a:solidFill>
              <a:srgbClr val="E2E8F0"/>
            </a:solidFill>
            <a:prstDash val="solid"/>
          </a:ln>
        </p:spPr>
      </p:sp>
      <p:sp>
        <p:nvSpPr>
          <p:cNvPr id="14" name="Text 11"/>
          <p:cNvSpPr txBox="1"/>
          <p:nvPr/>
        </p:nvSpPr>
        <p:spPr>
          <a:xfrm>
            <a:off x="9555480" y="1554480"/>
            <a:ext cx="2011680" cy="731520"/>
          </a:xfrm>
          <a:prstGeom prst="rect">
            <a:avLst/>
          </a:prstGeom>
          <a:noFill/>
          <a:ln/>
        </p:spPr>
        <p:txBody>
          <a:bodyPr wrap="square" lIns="0" tIns="0" rIns="0" bIns="0" rtlCol="0" anchor="ctr"/>
          <a:lstStyle/>
          <a:p>
            <a:pPr indent="0" marL="0">
              <a:buNone/>
            </a:pPr>
            <a:r>
              <a:rPr lang="en-US" sz="4400" b="1" dirty="0">
                <a:solidFill>
                  <a:srgbClr val="0F9D9A"/>
                </a:solidFill>
                <a:latin typeface="Calibri" pitchFamily="34" charset="0"/>
                <a:ea typeface="Calibri" pitchFamily="34" charset="-122"/>
                <a:cs typeface="Calibri" pitchFamily="34" charset="-120"/>
              </a:rPr>
              <a:t>23</a:t>
            </a:r>
            <a:endParaRPr lang="en-US" sz="4400" dirty="0"/>
          </a:p>
        </p:txBody>
      </p:sp>
      <p:sp>
        <p:nvSpPr>
          <p:cNvPr id="15" name="Text 12"/>
          <p:cNvSpPr txBox="1"/>
          <p:nvPr/>
        </p:nvSpPr>
        <p:spPr>
          <a:xfrm>
            <a:off x="9555480" y="2331720"/>
            <a:ext cx="2011680" cy="36576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DAX measures</a:t>
            </a:r>
            <a:endParaRPr lang="en-US" sz="1500" dirty="0"/>
          </a:p>
        </p:txBody>
      </p:sp>
      <p:sp>
        <p:nvSpPr>
          <p:cNvPr id="16" name="Text 13"/>
          <p:cNvSpPr txBox="1"/>
          <p:nvPr/>
        </p:nvSpPr>
        <p:spPr>
          <a:xfrm>
            <a:off x="9555480" y="2743200"/>
            <a:ext cx="201168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totals, prior-year, YoY, YoY %</a:t>
            </a:r>
            <a:endParaRPr lang="en-US" sz="1200" dirty="0"/>
          </a:p>
        </p:txBody>
      </p:sp>
      <p:sp>
        <p:nvSpPr>
          <p:cNvPr id="17" name="Shape 14"/>
          <p:cNvSpPr/>
          <p:nvPr/>
        </p:nvSpPr>
        <p:spPr>
          <a:xfrm>
            <a:off x="6858000" y="3794760"/>
            <a:ext cx="2331720" cy="2240280"/>
          </a:xfrm>
          <a:prstGeom prst="rect">
            <a:avLst/>
          </a:prstGeom>
          <a:solidFill>
            <a:srgbClr val="FFFFFF"/>
          </a:solidFill>
          <a:ln w="9525">
            <a:solidFill>
              <a:srgbClr val="E2E8F0"/>
            </a:solidFill>
            <a:prstDash val="solid"/>
          </a:ln>
        </p:spPr>
      </p:sp>
      <p:sp>
        <p:nvSpPr>
          <p:cNvPr id="18" name="Text 15"/>
          <p:cNvSpPr txBox="1"/>
          <p:nvPr/>
        </p:nvSpPr>
        <p:spPr>
          <a:xfrm>
            <a:off x="7040880" y="3977640"/>
            <a:ext cx="2011680" cy="731520"/>
          </a:xfrm>
          <a:prstGeom prst="rect">
            <a:avLst/>
          </a:prstGeom>
          <a:noFill/>
          <a:ln/>
        </p:spPr>
        <p:txBody>
          <a:bodyPr wrap="square" lIns="0" tIns="0" rIns="0" bIns="0" rtlCol="0" anchor="ctr"/>
          <a:lstStyle/>
          <a:p>
            <a:pPr indent="0" marL="0">
              <a:buNone/>
            </a:pPr>
            <a:r>
              <a:rPr lang="en-US" sz="4400" b="1" dirty="0">
                <a:solidFill>
                  <a:srgbClr val="0F9D9A"/>
                </a:solidFill>
                <a:latin typeface="Calibri" pitchFamily="34" charset="0"/>
                <a:ea typeface="Calibri" pitchFamily="34" charset="-122"/>
                <a:cs typeface="Calibri" pitchFamily="34" charset="-120"/>
              </a:rPr>
              <a:t>4</a:t>
            </a:r>
            <a:endParaRPr lang="en-US" sz="4400" dirty="0"/>
          </a:p>
        </p:txBody>
      </p:sp>
      <p:sp>
        <p:nvSpPr>
          <p:cNvPr id="19" name="Text 16"/>
          <p:cNvSpPr txBox="1"/>
          <p:nvPr/>
        </p:nvSpPr>
        <p:spPr>
          <a:xfrm>
            <a:off x="7040880" y="4754880"/>
            <a:ext cx="2011680" cy="36576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slicers</a:t>
            </a:r>
            <a:endParaRPr lang="en-US" sz="1500" dirty="0"/>
          </a:p>
        </p:txBody>
      </p:sp>
      <p:sp>
        <p:nvSpPr>
          <p:cNvPr id="20" name="Text 17"/>
          <p:cNvSpPr txBox="1"/>
          <p:nvPr/>
        </p:nvSpPr>
        <p:spPr>
          <a:xfrm>
            <a:off x="7040880" y="5166360"/>
            <a:ext cx="201168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year, metric, occupation, merchant category</a:t>
            </a:r>
            <a:endParaRPr lang="en-US" sz="1200" dirty="0"/>
          </a:p>
        </p:txBody>
      </p:sp>
      <p:sp>
        <p:nvSpPr>
          <p:cNvPr id="21" name="Shape 18"/>
          <p:cNvSpPr/>
          <p:nvPr/>
        </p:nvSpPr>
        <p:spPr>
          <a:xfrm>
            <a:off x="9372600" y="3794760"/>
            <a:ext cx="2331720" cy="2240280"/>
          </a:xfrm>
          <a:prstGeom prst="rect">
            <a:avLst/>
          </a:prstGeom>
          <a:solidFill>
            <a:srgbClr val="FFFFFF"/>
          </a:solidFill>
          <a:ln w="9525">
            <a:solidFill>
              <a:srgbClr val="E2E8F0"/>
            </a:solidFill>
            <a:prstDash val="solid"/>
          </a:ln>
        </p:spPr>
      </p:sp>
      <p:sp>
        <p:nvSpPr>
          <p:cNvPr id="22" name="Text 19"/>
          <p:cNvSpPr txBox="1"/>
          <p:nvPr/>
        </p:nvSpPr>
        <p:spPr>
          <a:xfrm>
            <a:off x="9555480" y="3977640"/>
            <a:ext cx="2011680" cy="731520"/>
          </a:xfrm>
          <a:prstGeom prst="rect">
            <a:avLst/>
          </a:prstGeom>
          <a:noFill/>
          <a:ln/>
        </p:spPr>
        <p:txBody>
          <a:bodyPr wrap="square" lIns="0" tIns="0" rIns="0" bIns="0" rtlCol="0" anchor="ctr"/>
          <a:lstStyle/>
          <a:p>
            <a:pPr indent="0" marL="0">
              <a:buNone/>
            </a:pPr>
            <a:r>
              <a:rPr lang="en-US" sz="4400" b="1" dirty="0">
                <a:solidFill>
                  <a:srgbClr val="0F9D9A"/>
                </a:solidFill>
                <a:latin typeface="Calibri" pitchFamily="34" charset="0"/>
                <a:ea typeface="Calibri" pitchFamily="34" charset="-122"/>
                <a:cs typeface="Calibri" pitchFamily="34" charset="-120"/>
              </a:rPr>
              <a:t>1</a:t>
            </a:r>
            <a:endParaRPr lang="en-US" sz="4400" dirty="0"/>
          </a:p>
        </p:txBody>
      </p:sp>
      <p:sp>
        <p:nvSpPr>
          <p:cNvPr id="23" name="Text 20"/>
          <p:cNvSpPr txBox="1"/>
          <p:nvPr/>
        </p:nvSpPr>
        <p:spPr>
          <a:xfrm>
            <a:off x="9555480" y="4754880"/>
            <a:ext cx="2011680" cy="36576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report page</a:t>
            </a:r>
            <a:endParaRPr lang="en-US" sz="1500" dirty="0"/>
          </a:p>
        </p:txBody>
      </p:sp>
      <p:sp>
        <p:nvSpPr>
          <p:cNvPr id="24" name="Text 21"/>
          <p:cNvSpPr txBox="1"/>
          <p:nvPr/>
        </p:nvSpPr>
        <p:spPr>
          <a:xfrm>
            <a:off x="9555480" y="5166360"/>
            <a:ext cx="201168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KPI cards plus 6 linked charts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Data model: customers linked to transactions, plus two helper tables</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48640" y="1463040"/>
            <a:ext cx="4023360" cy="2103120"/>
          </a:xfrm>
          <a:prstGeom prst="rect">
            <a:avLst/>
          </a:prstGeom>
          <a:solidFill>
            <a:srgbClr val="1D4E89"/>
          </a:solidFill>
          <a:ln w="12700">
            <a:solidFill>
              <a:srgbClr val="1D4E89"/>
            </a:solidFill>
            <a:prstDash val="solid"/>
          </a:ln>
        </p:spPr>
      </p:sp>
      <p:sp>
        <p:nvSpPr>
          <p:cNvPr id="7" name="Text 4"/>
          <p:cNvSpPr txBox="1"/>
          <p:nvPr/>
        </p:nvSpPr>
        <p:spPr>
          <a:xfrm>
            <a:off x="731520" y="1600200"/>
            <a:ext cx="36576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customers</a:t>
            </a:r>
            <a:endParaRPr lang="en-US" sz="1800" dirty="0"/>
          </a:p>
        </p:txBody>
      </p:sp>
      <p:sp>
        <p:nvSpPr>
          <p:cNvPr id="8" name="Text 5"/>
          <p:cNvSpPr txBox="1"/>
          <p:nvPr/>
        </p:nvSpPr>
        <p:spPr>
          <a:xfrm>
            <a:off x="731520" y="2057400"/>
            <a:ext cx="3657600" cy="1371600"/>
          </a:xfrm>
          <a:prstGeom prst="rect">
            <a:avLst/>
          </a:prstGeom>
          <a:noFill/>
          <a:ln/>
        </p:spPr>
        <p:txBody>
          <a:bodyPr wrap="square" lIns="0" tIns="0" rIns="0" bIns="0" rtlCol="0" anchor="t"/>
          <a:lstStyle/>
          <a:p>
            <a:pPr indent="0" marL="0">
              <a:buNone/>
            </a:pPr>
            <a:r>
              <a:rPr lang="en-US" sz="1200" dirty="0">
                <a:solidFill>
                  <a:srgbClr val="E6EEF9"/>
                </a:solidFill>
                <a:latin typeface="Calibri" pitchFamily="34" charset="0"/>
                <a:ea typeface="Calibri" pitchFamily="34" charset="-122"/>
                <a:cs typeface="Calibri" pitchFamily="34" charset="-120"/>
              </a:rPr>
              <a:t>5,000 rows · 10 columns</a:t>
            </a:r>
            <a:endParaRPr lang="en-US" sz="1200" dirty="0"/>
          </a:p>
          <a:p>
            <a:pPr indent="0" marL="0">
              <a:buNone/>
            </a:pPr>
            <a:r>
              <a:rPr lang="en-US" sz="1200" dirty="0">
                <a:solidFill>
                  <a:srgbClr val="E6EEF9"/>
                </a:solidFill>
                <a:latin typeface="Calibri" pitchFamily="34" charset="0"/>
                <a:ea typeface="Calibri" pitchFamily="34" charset="-122"/>
                <a:cs typeface="Calibri" pitchFamily="34" charset="-120"/>
              </a:rPr>
              <a:t>customer_id (key), gender, date_of_birth, city, state, occupation, customer_segment, annual_income, join_date, Customer Name</a:t>
            </a:r>
            <a:endParaRPr lang="en-US" sz="1200" dirty="0"/>
          </a:p>
        </p:txBody>
      </p:sp>
      <p:sp>
        <p:nvSpPr>
          <p:cNvPr id="9" name="Shape 6"/>
          <p:cNvSpPr/>
          <p:nvPr/>
        </p:nvSpPr>
        <p:spPr>
          <a:xfrm>
            <a:off x="6766560" y="1463040"/>
            <a:ext cx="4846320" cy="2103120"/>
          </a:xfrm>
          <a:prstGeom prst="rect">
            <a:avLst/>
          </a:prstGeom>
          <a:solidFill>
            <a:srgbClr val="0B2545"/>
          </a:solidFill>
          <a:ln w="12700">
            <a:solidFill>
              <a:srgbClr val="0B2545"/>
            </a:solidFill>
            <a:prstDash val="solid"/>
          </a:ln>
        </p:spPr>
      </p:sp>
      <p:sp>
        <p:nvSpPr>
          <p:cNvPr id="10" name="Text 7"/>
          <p:cNvSpPr txBox="1"/>
          <p:nvPr/>
        </p:nvSpPr>
        <p:spPr>
          <a:xfrm>
            <a:off x="6949440" y="1600200"/>
            <a:ext cx="44805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finance_transactions</a:t>
            </a:r>
            <a:endParaRPr lang="en-US" sz="1800" dirty="0"/>
          </a:p>
        </p:txBody>
      </p:sp>
      <p:sp>
        <p:nvSpPr>
          <p:cNvPr id="11" name="Text 8"/>
          <p:cNvSpPr txBox="1"/>
          <p:nvPr/>
        </p:nvSpPr>
        <p:spPr>
          <a:xfrm>
            <a:off x="6949440" y="2057400"/>
            <a:ext cx="4480560" cy="1371600"/>
          </a:xfrm>
          <a:prstGeom prst="rect">
            <a:avLst/>
          </a:prstGeom>
          <a:noFill/>
          <a:ln/>
        </p:spPr>
        <p:txBody>
          <a:bodyPr wrap="square" lIns="0" tIns="0" rIns="0" bIns="0" rtlCol="0" anchor="t"/>
          <a:lstStyle/>
          <a:p>
            <a:pPr indent="0" marL="0">
              <a:buNone/>
            </a:pPr>
            <a:r>
              <a:rPr lang="en-US" sz="1200" dirty="0">
                <a:solidFill>
                  <a:srgbClr val="E6EEF9"/>
                </a:solidFill>
                <a:latin typeface="Calibri" pitchFamily="34" charset="0"/>
                <a:ea typeface="Calibri" pitchFamily="34" charset="-122"/>
                <a:cs typeface="Calibri" pitchFamily="34" charset="-120"/>
              </a:rPr>
              <a:t>50,045 rows · 15 columns</a:t>
            </a:r>
            <a:endParaRPr lang="en-US" sz="1200" dirty="0"/>
          </a:p>
          <a:p>
            <a:pPr indent="0" marL="0">
              <a:buNone/>
            </a:pPr>
            <a:r>
              <a:rPr lang="en-US" sz="1200" dirty="0">
                <a:solidFill>
                  <a:srgbClr val="E6EEF9"/>
                </a:solidFill>
                <a:latin typeface="Calibri" pitchFamily="34" charset="0"/>
                <a:ea typeface="Calibri" pitchFamily="34" charset="-122"/>
                <a:cs typeface="Calibri" pitchFamily="34" charset="-120"/>
              </a:rPr>
              <a:t>transaction_id, transaction_date, customer_id (key), account_id, transaction_type, channel, merchant_category, amount, fee_amount, tax_amount, currency, transaction_status, is_fraud, risk_score, reference_no</a:t>
            </a:r>
            <a:endParaRPr lang="en-US" sz="1200" dirty="0"/>
          </a:p>
        </p:txBody>
      </p:sp>
      <p:sp>
        <p:nvSpPr>
          <p:cNvPr id="12" name="Shape 9"/>
          <p:cNvSpPr/>
          <p:nvPr/>
        </p:nvSpPr>
        <p:spPr>
          <a:xfrm>
            <a:off x="4572000" y="2514600"/>
            <a:ext cx="2194560" cy="0"/>
          </a:xfrm>
          <a:prstGeom prst="line">
            <a:avLst/>
          </a:prstGeom>
          <a:noFill/>
          <a:ln w="38100">
            <a:solidFill>
              <a:srgbClr val="0F9D9A"/>
            </a:solidFill>
            <a:prstDash val="solid"/>
          </a:ln>
        </p:spPr>
      </p:sp>
      <p:sp>
        <p:nvSpPr>
          <p:cNvPr id="13" name="Text 10"/>
          <p:cNvSpPr txBox="1"/>
          <p:nvPr/>
        </p:nvSpPr>
        <p:spPr>
          <a:xfrm>
            <a:off x="4617720" y="2194560"/>
            <a:ext cx="365760" cy="274320"/>
          </a:xfrm>
          <a:prstGeom prst="rect">
            <a:avLst/>
          </a:prstGeom>
          <a:noFill/>
          <a:ln/>
        </p:spPr>
        <p:txBody>
          <a:bodyPr wrap="square" lIns="0" tIns="0" rIns="0" bIns="0" rtlCol="0" anchor="ctr"/>
          <a:lstStyle/>
          <a:p>
            <a:pPr indent="0" marL="0">
              <a:buNone/>
            </a:pPr>
            <a:r>
              <a:rPr lang="en-US" sz="1400" b="1" dirty="0">
                <a:solidFill>
                  <a:srgbClr val="0F9D9A"/>
                </a:solidFill>
                <a:latin typeface="Calibri" pitchFamily="34" charset="0"/>
                <a:ea typeface="Calibri" pitchFamily="34" charset="-122"/>
                <a:cs typeface="Calibri" pitchFamily="34" charset="-120"/>
              </a:rPr>
              <a:t>1</a:t>
            </a:r>
            <a:endParaRPr lang="en-US" sz="1400" dirty="0"/>
          </a:p>
        </p:txBody>
      </p:sp>
      <p:sp>
        <p:nvSpPr>
          <p:cNvPr id="14" name="Text 11"/>
          <p:cNvSpPr txBox="1"/>
          <p:nvPr/>
        </p:nvSpPr>
        <p:spPr>
          <a:xfrm>
            <a:off x="6400800" y="2194560"/>
            <a:ext cx="365760" cy="274320"/>
          </a:xfrm>
          <a:prstGeom prst="rect">
            <a:avLst/>
          </a:prstGeom>
          <a:noFill/>
          <a:ln/>
        </p:spPr>
        <p:txBody>
          <a:bodyPr wrap="square" lIns="0" tIns="0" rIns="0" bIns="0" rtlCol="0" anchor="ctr"/>
          <a:lstStyle/>
          <a:p>
            <a:pPr algn="r" indent="0" marL="0">
              <a:buNone/>
            </a:pPr>
            <a:r>
              <a:rPr lang="en-US" sz="1600" b="1" dirty="0">
                <a:solidFill>
                  <a:srgbClr val="0F9D9A"/>
                </a:solidFill>
                <a:latin typeface="Calibri" pitchFamily="34" charset="0"/>
                <a:ea typeface="Calibri" pitchFamily="34" charset="-122"/>
                <a:cs typeface="Calibri" pitchFamily="34" charset="-120"/>
              </a:rPr>
              <a:t>*</a:t>
            </a:r>
            <a:endParaRPr lang="en-US" sz="1600" dirty="0"/>
          </a:p>
        </p:txBody>
      </p:sp>
      <p:sp>
        <p:nvSpPr>
          <p:cNvPr id="15" name="Text 12"/>
          <p:cNvSpPr txBox="1"/>
          <p:nvPr/>
        </p:nvSpPr>
        <p:spPr>
          <a:xfrm>
            <a:off x="4617720" y="2560320"/>
            <a:ext cx="210312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customer_id</a:t>
            </a:r>
            <a:endParaRPr lang="en-US" sz="1100" dirty="0"/>
          </a:p>
        </p:txBody>
      </p:sp>
      <p:sp>
        <p:nvSpPr>
          <p:cNvPr id="16" name="Shape 13"/>
          <p:cNvSpPr/>
          <p:nvPr/>
        </p:nvSpPr>
        <p:spPr>
          <a:xfrm>
            <a:off x="548640" y="4023360"/>
            <a:ext cx="4023360" cy="1554480"/>
          </a:xfrm>
          <a:prstGeom prst="rect">
            <a:avLst/>
          </a:prstGeom>
          <a:solidFill>
            <a:srgbClr val="0F9D9A"/>
          </a:solidFill>
          <a:ln w="12700">
            <a:solidFill>
              <a:srgbClr val="0F9D9A"/>
            </a:solidFill>
            <a:prstDash val="solid"/>
          </a:ln>
        </p:spPr>
      </p:sp>
      <p:sp>
        <p:nvSpPr>
          <p:cNvPr id="17" name="Text 14"/>
          <p:cNvSpPr txBox="1"/>
          <p:nvPr/>
        </p:nvSpPr>
        <p:spPr>
          <a:xfrm>
            <a:off x="731520" y="4160520"/>
            <a:ext cx="36576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Calender Table</a:t>
            </a:r>
            <a:endParaRPr lang="en-US" sz="1800" dirty="0"/>
          </a:p>
        </p:txBody>
      </p:sp>
      <p:sp>
        <p:nvSpPr>
          <p:cNvPr id="18" name="Text 15"/>
          <p:cNvSpPr txBox="1"/>
          <p:nvPr/>
        </p:nvSpPr>
        <p:spPr>
          <a:xfrm>
            <a:off x="731520" y="4617720"/>
            <a:ext cx="3657600" cy="822960"/>
          </a:xfrm>
          <a:prstGeom prst="rect">
            <a:avLst/>
          </a:prstGeom>
          <a:noFill/>
          <a:ln/>
        </p:spPr>
        <p:txBody>
          <a:bodyPr wrap="square" lIns="0" tIns="0" rIns="0" bIns="0" rtlCol="0" anchor="t"/>
          <a:lstStyle/>
          <a:p>
            <a:pPr indent="0" marL="0">
              <a:buNone/>
            </a:pPr>
            <a:r>
              <a:rPr lang="en-US" sz="1200" dirty="0">
                <a:solidFill>
                  <a:srgbClr val="E6EEF9"/>
                </a:solidFill>
                <a:latin typeface="Calibri" pitchFamily="34" charset="0"/>
                <a:ea typeface="Calibri" pitchFamily="34" charset="-122"/>
                <a:cs typeface="Calibri" pitchFamily="34" charset="-120"/>
              </a:rPr>
              <a:t>Date, Year, Month, Month No</a:t>
            </a:r>
            <a:endParaRPr lang="en-US" sz="1200" dirty="0"/>
          </a:p>
          <a:p>
            <a:pPr indent="0" marL="0">
              <a:buNone/>
            </a:pPr>
            <a:r>
              <a:rPr lang="en-US" sz="1200" dirty="0">
                <a:solidFill>
                  <a:srgbClr val="E6EEF9"/>
                </a:solidFill>
                <a:latin typeface="Calibri" pitchFamily="34" charset="0"/>
                <a:ea typeface="Calibri" pitchFamily="34" charset="-122"/>
                <a:cs typeface="Calibri" pitchFamily="34" charset="-120"/>
              </a:rPr>
              <a:t>Used for time intelligence (prior-year comparisons)</a:t>
            </a:r>
            <a:endParaRPr lang="en-US" sz="1200" dirty="0"/>
          </a:p>
        </p:txBody>
      </p:sp>
      <p:sp>
        <p:nvSpPr>
          <p:cNvPr id="19" name="Shape 16"/>
          <p:cNvSpPr/>
          <p:nvPr/>
        </p:nvSpPr>
        <p:spPr>
          <a:xfrm>
            <a:off x="4937760" y="4023360"/>
            <a:ext cx="4023360" cy="1554480"/>
          </a:xfrm>
          <a:prstGeom prst="rect">
            <a:avLst/>
          </a:prstGeom>
          <a:solidFill>
            <a:srgbClr val="F2A541"/>
          </a:solidFill>
          <a:ln w="12700">
            <a:solidFill>
              <a:srgbClr val="F2A541"/>
            </a:solidFill>
            <a:prstDash val="solid"/>
          </a:ln>
        </p:spPr>
      </p:sp>
      <p:sp>
        <p:nvSpPr>
          <p:cNvPr id="20" name="Text 17"/>
          <p:cNvSpPr txBox="1"/>
          <p:nvPr/>
        </p:nvSpPr>
        <p:spPr>
          <a:xfrm>
            <a:off x="5120640" y="4160520"/>
            <a:ext cx="3657600" cy="4114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Dynamic Metric</a:t>
            </a:r>
            <a:endParaRPr lang="en-US" sz="1800" dirty="0"/>
          </a:p>
        </p:txBody>
      </p:sp>
      <p:sp>
        <p:nvSpPr>
          <p:cNvPr id="21" name="Text 18"/>
          <p:cNvSpPr txBox="1"/>
          <p:nvPr/>
        </p:nvSpPr>
        <p:spPr>
          <a:xfrm>
            <a:off x="5120640" y="4617720"/>
            <a:ext cx="3657600" cy="822960"/>
          </a:xfrm>
          <a:prstGeom prst="rect">
            <a:avLst/>
          </a:prstGeom>
          <a:noFill/>
          <a:ln/>
        </p:spPr>
        <p:txBody>
          <a:bodyPr wrap="square" lIns="0" tIns="0" rIns="0" bIns="0" rtlCol="0" anchor="t"/>
          <a:lstStyle/>
          <a:p>
            <a:pPr indent="0" marL="0">
              <a:buNone/>
            </a:pPr>
            <a:r>
              <a:rPr lang="en-US" sz="1200" dirty="0">
                <a:solidFill>
                  <a:srgbClr val="0B2545"/>
                </a:solidFill>
                <a:latin typeface="Calibri" pitchFamily="34" charset="0"/>
                <a:ea typeface="Calibri" pitchFamily="34" charset="-122"/>
                <a:cs typeface="Calibri" pitchFamily="34" charset="-120"/>
              </a:rPr>
              <a:t>Metric name, fields, order, title</a:t>
            </a:r>
            <a:endParaRPr lang="en-US" sz="1200" dirty="0"/>
          </a:p>
          <a:p>
            <a:pPr indent="0" marL="0">
              <a:buNone/>
            </a:pPr>
            <a:r>
              <a:rPr lang="en-US" sz="1200" dirty="0">
                <a:solidFill>
                  <a:srgbClr val="0B2545"/>
                </a:solidFill>
                <a:latin typeface="Calibri" pitchFamily="34" charset="0"/>
                <a:ea typeface="Calibri" pitchFamily="34" charset="-122"/>
                <a:cs typeface="Calibri" pitchFamily="34" charset="-120"/>
              </a:rPr>
              <a:t>Drives the “select a metric” slicer and card title</a:t>
            </a:r>
            <a:endParaRPr lang="en-US" sz="1200" dirty="0"/>
          </a:p>
        </p:txBody>
      </p:sp>
      <p:sp>
        <p:nvSpPr>
          <p:cNvPr id="22" name="Shape 19"/>
          <p:cNvSpPr/>
          <p:nvPr/>
        </p:nvSpPr>
        <p:spPr>
          <a:xfrm>
            <a:off x="9326880" y="4023360"/>
            <a:ext cx="2286000" cy="1554480"/>
          </a:xfrm>
          <a:prstGeom prst="rect">
            <a:avLst/>
          </a:prstGeom>
          <a:solidFill>
            <a:srgbClr val="FFFFFF"/>
          </a:solidFill>
          <a:ln w="9525">
            <a:solidFill>
              <a:srgbClr val="E2E8F0"/>
            </a:solidFill>
            <a:prstDash val="solid"/>
          </a:ln>
        </p:spPr>
      </p:sp>
      <p:sp>
        <p:nvSpPr>
          <p:cNvPr id="23" name="Text 20"/>
          <p:cNvSpPr txBox="1"/>
          <p:nvPr/>
        </p:nvSpPr>
        <p:spPr>
          <a:xfrm>
            <a:off x="9509760" y="4160520"/>
            <a:ext cx="1920240" cy="32004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Relationship</a:t>
            </a:r>
            <a:endParaRPr lang="en-US" sz="1400" dirty="0"/>
          </a:p>
        </p:txBody>
      </p:sp>
      <p:sp>
        <p:nvSpPr>
          <p:cNvPr id="24" name="Text 21"/>
          <p:cNvSpPr txBox="1"/>
          <p:nvPr/>
        </p:nvSpPr>
        <p:spPr>
          <a:xfrm>
            <a:off x="9509760" y="4526280"/>
            <a:ext cx="1965960" cy="9144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Many-to-one, single direction, customers → transactions</a:t>
            </a:r>
            <a:endParaRPr lang="en-US" sz="1200" dirty="0"/>
          </a:p>
        </p:txBody>
      </p:sp>
      <p:sp>
        <p:nvSpPr>
          <p:cNvPr id="25" name="Text 22"/>
          <p:cNvSpPr txBox="1"/>
          <p:nvPr/>
        </p:nvSpPr>
        <p:spPr>
          <a:xfrm>
            <a:off x="548640" y="5852160"/>
            <a:ext cx="1097280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Source: customers.csv (5,000 rows) and finance_transactions.csv (50,069 raw rows) loaded through Power Query; 50,045 transaction rows remain after cleaning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Data preparation: Power Query steps and data-quality findings</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48640" y="1371600"/>
            <a:ext cx="5120640" cy="4754880"/>
          </a:xfrm>
          <a:prstGeom prst="rect">
            <a:avLst/>
          </a:prstGeom>
          <a:solidFill>
            <a:srgbClr val="FFFFFF"/>
          </a:solidFill>
          <a:ln w="9525">
            <a:solidFill>
              <a:srgbClr val="E2E8F0"/>
            </a:solidFill>
            <a:prstDash val="solid"/>
          </a:ln>
        </p:spPr>
      </p:sp>
      <p:sp>
        <p:nvSpPr>
          <p:cNvPr id="7" name="Text 4"/>
          <p:cNvSpPr txBox="1"/>
          <p:nvPr/>
        </p:nvSpPr>
        <p:spPr>
          <a:xfrm>
            <a:off x="822960" y="1554480"/>
            <a:ext cx="4572000" cy="36576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Power Query steps</a:t>
            </a:r>
            <a:endParaRPr lang="en-US" sz="1800" dirty="0"/>
          </a:p>
        </p:txBody>
      </p:sp>
      <p:sp>
        <p:nvSpPr>
          <p:cNvPr id="8" name="Shape 5"/>
          <p:cNvSpPr/>
          <p:nvPr/>
        </p:nvSpPr>
        <p:spPr>
          <a:xfrm>
            <a:off x="822960" y="2148840"/>
            <a:ext cx="457200" cy="457200"/>
          </a:xfrm>
          <a:prstGeom prst="ellipse">
            <a:avLst/>
          </a:prstGeom>
          <a:solidFill>
            <a:srgbClr val="0F9D9A"/>
          </a:solidFill>
          <a:ln w="12700">
            <a:solidFill>
              <a:srgbClr val="0F9D9A"/>
            </a:solidFill>
            <a:prstDash val="solid"/>
          </a:ln>
        </p:spPr>
      </p:sp>
      <p:sp>
        <p:nvSpPr>
          <p:cNvPr id="9" name="Text 6"/>
          <p:cNvSpPr txBox="1"/>
          <p:nvPr/>
        </p:nvSpPr>
        <p:spPr>
          <a:xfrm>
            <a:off x="822960" y="21488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463040" y="2103120"/>
            <a:ext cx="4023360" cy="7315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Import  </a:t>
            </a:r>
            <a:pPr indent="0" marL="0">
              <a:buNone/>
            </a:pPr>
            <a:r>
              <a:rPr lang="en-US" sz="1400" dirty="0">
                <a:solidFill>
                  <a:srgbClr val="1F2937"/>
                </a:solidFill>
                <a:latin typeface="Calibri" pitchFamily="34" charset="0"/>
                <a:ea typeface="Calibri" pitchFamily="34" charset="-122"/>
                <a:cs typeface="Calibri" pitchFamily="34" charset="-120"/>
              </a:rPr>
              <a:t>Loaded both CSV files and promoted the first row to headers</a:t>
            </a:r>
            <a:endParaRPr lang="en-US" sz="1400" dirty="0"/>
          </a:p>
        </p:txBody>
      </p:sp>
      <p:sp>
        <p:nvSpPr>
          <p:cNvPr id="11" name="Shape 8"/>
          <p:cNvSpPr/>
          <p:nvPr/>
        </p:nvSpPr>
        <p:spPr>
          <a:xfrm>
            <a:off x="822960" y="3108960"/>
            <a:ext cx="457200" cy="457200"/>
          </a:xfrm>
          <a:prstGeom prst="ellipse">
            <a:avLst/>
          </a:prstGeom>
          <a:solidFill>
            <a:srgbClr val="0F9D9A"/>
          </a:solidFill>
          <a:ln w="12700">
            <a:solidFill>
              <a:srgbClr val="0F9D9A"/>
            </a:solidFill>
            <a:prstDash val="solid"/>
          </a:ln>
        </p:spPr>
      </p:sp>
      <p:sp>
        <p:nvSpPr>
          <p:cNvPr id="12" name="Text 9"/>
          <p:cNvSpPr txBox="1"/>
          <p:nvPr/>
        </p:nvSpPr>
        <p:spPr>
          <a:xfrm>
            <a:off x="822960"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1463040" y="3063240"/>
            <a:ext cx="4023360" cy="7315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Type  </a:t>
            </a:r>
            <a:pPr indent="0" marL="0">
              <a:buNone/>
            </a:pPr>
            <a:r>
              <a:rPr lang="en-US" sz="1400" dirty="0">
                <a:solidFill>
                  <a:srgbClr val="1F2937"/>
                </a:solidFill>
                <a:latin typeface="Calibri" pitchFamily="34" charset="0"/>
                <a:ea typeface="Calibri" pitchFamily="34" charset="-122"/>
                <a:cs typeface="Calibri" pitchFamily="34" charset="-120"/>
              </a:rPr>
              <a:t>Set correct types: text, date, decimal number and whole number</a:t>
            </a:r>
            <a:endParaRPr lang="en-US" sz="1400" dirty="0"/>
          </a:p>
        </p:txBody>
      </p:sp>
      <p:sp>
        <p:nvSpPr>
          <p:cNvPr id="14" name="Shape 11"/>
          <p:cNvSpPr/>
          <p:nvPr/>
        </p:nvSpPr>
        <p:spPr>
          <a:xfrm>
            <a:off x="822960" y="4069080"/>
            <a:ext cx="457200" cy="457200"/>
          </a:xfrm>
          <a:prstGeom prst="ellipse">
            <a:avLst/>
          </a:prstGeom>
          <a:solidFill>
            <a:srgbClr val="0F9D9A"/>
          </a:solidFill>
          <a:ln w="12700">
            <a:solidFill>
              <a:srgbClr val="0F9D9A"/>
            </a:solidFill>
            <a:prstDash val="solid"/>
          </a:ln>
        </p:spPr>
      </p:sp>
      <p:sp>
        <p:nvSpPr>
          <p:cNvPr id="15" name="Text 12"/>
          <p:cNvSpPr txBox="1"/>
          <p:nvPr/>
        </p:nvSpPr>
        <p:spPr>
          <a:xfrm>
            <a:off x="822960" y="4069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1463040" y="4023360"/>
            <a:ext cx="4023360" cy="7315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Combine  </a:t>
            </a:r>
            <a:pPr indent="0" marL="0">
              <a:buNone/>
            </a:pPr>
            <a:r>
              <a:rPr lang="en-US" sz="1400" dirty="0">
                <a:solidFill>
                  <a:srgbClr val="1F2937"/>
                </a:solidFill>
                <a:latin typeface="Calibri" pitchFamily="34" charset="0"/>
                <a:ea typeface="Calibri" pitchFamily="34" charset="-122"/>
                <a:cs typeface="Calibri" pitchFamily="34" charset="-120"/>
              </a:rPr>
              <a:t>Merged first and second name into one Customer Name column</a:t>
            </a:r>
            <a:endParaRPr lang="en-US" sz="1400" dirty="0"/>
          </a:p>
        </p:txBody>
      </p:sp>
      <p:sp>
        <p:nvSpPr>
          <p:cNvPr id="17" name="Shape 14"/>
          <p:cNvSpPr/>
          <p:nvPr/>
        </p:nvSpPr>
        <p:spPr>
          <a:xfrm>
            <a:off x="822960" y="5029200"/>
            <a:ext cx="457200" cy="457200"/>
          </a:xfrm>
          <a:prstGeom prst="ellipse">
            <a:avLst/>
          </a:prstGeom>
          <a:solidFill>
            <a:srgbClr val="0F9D9A"/>
          </a:solidFill>
          <a:ln w="12700">
            <a:solidFill>
              <a:srgbClr val="0F9D9A"/>
            </a:solidFill>
            <a:prstDash val="solid"/>
          </a:ln>
        </p:spPr>
      </p:sp>
      <p:sp>
        <p:nvSpPr>
          <p:cNvPr id="18" name="Text 15"/>
          <p:cNvSpPr txBox="1"/>
          <p:nvPr/>
        </p:nvSpPr>
        <p:spPr>
          <a:xfrm>
            <a:off x="822960" y="5029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1463040" y="4983480"/>
            <a:ext cx="4023360" cy="7315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Filter  </a:t>
            </a:r>
            <a:pPr indent="0" marL="0">
              <a:buNone/>
            </a:pPr>
            <a:r>
              <a:rPr lang="en-US" sz="1400" dirty="0">
                <a:solidFill>
                  <a:srgbClr val="1F2937"/>
                </a:solidFill>
                <a:latin typeface="Calibri" pitchFamily="34" charset="0"/>
                <a:ea typeface="Calibri" pitchFamily="34" charset="-122"/>
                <a:cs typeface="Calibri" pitchFamily="34" charset="-120"/>
              </a:rPr>
              <a:t>Removed 24 rows with a blank fee_amount (50,069 raw rows → 50,045 used)</a:t>
            </a:r>
            <a:endParaRPr lang="en-US" sz="1400" dirty="0"/>
          </a:p>
        </p:txBody>
      </p:sp>
      <p:sp>
        <p:nvSpPr>
          <p:cNvPr id="20" name="Shape 17"/>
          <p:cNvSpPr/>
          <p:nvPr/>
        </p:nvSpPr>
        <p:spPr>
          <a:xfrm>
            <a:off x="5943600" y="1371600"/>
            <a:ext cx="5669280" cy="4754880"/>
          </a:xfrm>
          <a:prstGeom prst="rect">
            <a:avLst/>
          </a:prstGeom>
          <a:solidFill>
            <a:srgbClr val="FFFFFF"/>
          </a:solidFill>
          <a:ln w="9525">
            <a:solidFill>
              <a:srgbClr val="E2E8F0"/>
            </a:solidFill>
            <a:prstDash val="solid"/>
          </a:ln>
        </p:spPr>
      </p:sp>
      <p:sp>
        <p:nvSpPr>
          <p:cNvPr id="21" name="Text 18"/>
          <p:cNvSpPr txBox="1"/>
          <p:nvPr/>
        </p:nvSpPr>
        <p:spPr>
          <a:xfrm>
            <a:off x="6217920" y="1554480"/>
            <a:ext cx="5212080" cy="36576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Data-quality findings (for follow-up)</a:t>
            </a:r>
            <a:endParaRPr lang="en-US" sz="1800" dirty="0"/>
          </a:p>
        </p:txBody>
      </p:sp>
      <p:sp>
        <p:nvSpPr>
          <p:cNvPr id="22" name="Text 19"/>
          <p:cNvSpPr txBox="1"/>
          <p:nvPr/>
        </p:nvSpPr>
        <p:spPr>
          <a:xfrm>
            <a:off x="6217920" y="2011680"/>
            <a:ext cx="1097280" cy="731520"/>
          </a:xfrm>
          <a:prstGeom prst="rect">
            <a:avLst/>
          </a:prstGeom>
          <a:noFill/>
          <a:ln/>
        </p:spPr>
        <p:txBody>
          <a:bodyPr wrap="square" lIns="0" tIns="0" rIns="0" bIns="0" rtlCol="0" anchor="ctr"/>
          <a:lstStyle/>
          <a:p>
            <a:pPr indent="0" marL="0">
              <a:buNone/>
            </a:pPr>
            <a:r>
              <a:rPr lang="en-US" sz="3200" b="1" dirty="0">
                <a:solidFill>
                  <a:srgbClr val="F2A541"/>
                </a:solidFill>
                <a:latin typeface="Calibri" pitchFamily="34" charset="0"/>
                <a:ea typeface="Calibri" pitchFamily="34" charset="-122"/>
                <a:cs typeface="Calibri" pitchFamily="34" charset="-120"/>
              </a:rPr>
              <a:t>765</a:t>
            </a:r>
            <a:endParaRPr lang="en-US" sz="3200" dirty="0"/>
          </a:p>
        </p:txBody>
      </p:sp>
      <p:sp>
        <p:nvSpPr>
          <p:cNvPr id="23" name="Text 20"/>
          <p:cNvSpPr txBox="1"/>
          <p:nvPr/>
        </p:nvSpPr>
        <p:spPr>
          <a:xfrm>
            <a:off x="7406640" y="2011680"/>
            <a:ext cx="397764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rows labelled “M@bile App” instead of “Mobile App” (1.5% of rows)</a:t>
            </a:r>
            <a:endParaRPr lang="en-US" sz="1400" dirty="0"/>
          </a:p>
        </p:txBody>
      </p:sp>
      <p:sp>
        <p:nvSpPr>
          <p:cNvPr id="24" name="Text 21"/>
          <p:cNvSpPr txBox="1"/>
          <p:nvPr/>
        </p:nvSpPr>
        <p:spPr>
          <a:xfrm>
            <a:off x="6217920" y="2880360"/>
            <a:ext cx="1097280" cy="731520"/>
          </a:xfrm>
          <a:prstGeom prst="rect">
            <a:avLst/>
          </a:prstGeom>
          <a:noFill/>
          <a:ln/>
        </p:spPr>
        <p:txBody>
          <a:bodyPr wrap="square" lIns="0" tIns="0" rIns="0" bIns="0" rtlCol="0" anchor="ctr"/>
          <a:lstStyle/>
          <a:p>
            <a:pPr indent="0" marL="0">
              <a:buNone/>
            </a:pPr>
            <a:r>
              <a:rPr lang="en-US" sz="3200" b="1" dirty="0">
                <a:solidFill>
                  <a:srgbClr val="F2A541"/>
                </a:solidFill>
                <a:latin typeface="Calibri" pitchFamily="34" charset="0"/>
                <a:ea typeface="Calibri" pitchFamily="34" charset="-122"/>
                <a:cs typeface="Calibri" pitchFamily="34" charset="-120"/>
              </a:rPr>
              <a:t>68</a:t>
            </a:r>
            <a:endParaRPr lang="en-US" sz="3200" dirty="0"/>
          </a:p>
        </p:txBody>
      </p:sp>
      <p:sp>
        <p:nvSpPr>
          <p:cNvPr id="25" name="Text 22"/>
          <p:cNvSpPr txBox="1"/>
          <p:nvPr/>
        </p:nvSpPr>
        <p:spPr>
          <a:xfrm>
            <a:off x="7406640" y="2880360"/>
            <a:ext cx="397764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duplicate transaction_id rows (50,045 rows vs 49,977 unique IDs)</a:t>
            </a:r>
            <a:endParaRPr lang="en-US" sz="1400" dirty="0"/>
          </a:p>
        </p:txBody>
      </p:sp>
      <p:sp>
        <p:nvSpPr>
          <p:cNvPr id="26" name="Text 23"/>
          <p:cNvSpPr txBox="1"/>
          <p:nvPr/>
        </p:nvSpPr>
        <p:spPr>
          <a:xfrm>
            <a:off x="6217920" y="3749040"/>
            <a:ext cx="1097280" cy="731520"/>
          </a:xfrm>
          <a:prstGeom prst="rect">
            <a:avLst/>
          </a:prstGeom>
          <a:noFill/>
          <a:ln/>
        </p:spPr>
        <p:txBody>
          <a:bodyPr wrap="square" lIns="0" tIns="0" rIns="0" bIns="0" rtlCol="0" anchor="ctr"/>
          <a:lstStyle/>
          <a:p>
            <a:pPr indent="0" marL="0">
              <a:buNone/>
            </a:pPr>
            <a:r>
              <a:rPr lang="en-US" sz="3200" b="1" dirty="0">
                <a:solidFill>
                  <a:srgbClr val="F2A541"/>
                </a:solidFill>
                <a:latin typeface="Calibri" pitchFamily="34" charset="0"/>
                <a:ea typeface="Calibri" pitchFamily="34" charset="-122"/>
                <a:cs typeface="Calibri" pitchFamily="34" charset="-120"/>
              </a:rPr>
              <a:t>7</a:t>
            </a:r>
            <a:endParaRPr lang="en-US" sz="3200" dirty="0"/>
          </a:p>
        </p:txBody>
      </p:sp>
      <p:sp>
        <p:nvSpPr>
          <p:cNvPr id="27" name="Text 24"/>
          <p:cNvSpPr txBox="1"/>
          <p:nvPr/>
        </p:nvSpPr>
        <p:spPr>
          <a:xfrm>
            <a:off x="7406640" y="3749040"/>
            <a:ext cx="397764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transactions with a negative amount</a:t>
            </a:r>
            <a:endParaRPr lang="en-US" sz="1400" dirty="0"/>
          </a:p>
        </p:txBody>
      </p:sp>
      <p:sp>
        <p:nvSpPr>
          <p:cNvPr id="28" name="Text 25"/>
          <p:cNvSpPr txBox="1"/>
          <p:nvPr/>
        </p:nvSpPr>
        <p:spPr>
          <a:xfrm>
            <a:off x="6217920" y="4617720"/>
            <a:ext cx="1097280" cy="731520"/>
          </a:xfrm>
          <a:prstGeom prst="rect">
            <a:avLst/>
          </a:prstGeom>
          <a:noFill/>
          <a:ln/>
        </p:spPr>
        <p:txBody>
          <a:bodyPr wrap="square" lIns="0" tIns="0" rIns="0" bIns="0" rtlCol="0" anchor="ctr"/>
          <a:lstStyle/>
          <a:p>
            <a:pPr indent="0" marL="0">
              <a:buNone/>
            </a:pPr>
            <a:r>
              <a:rPr lang="en-US" sz="3200" b="1" dirty="0">
                <a:solidFill>
                  <a:srgbClr val="F2A541"/>
                </a:solidFill>
                <a:latin typeface="Calibri" pitchFamily="34" charset="0"/>
                <a:ea typeface="Calibri" pitchFamily="34" charset="-122"/>
                <a:cs typeface="Calibri" pitchFamily="34" charset="-120"/>
              </a:rPr>
              <a:t>2</a:t>
            </a:r>
            <a:endParaRPr lang="en-US" sz="3200" dirty="0"/>
          </a:p>
        </p:txBody>
      </p:sp>
      <p:sp>
        <p:nvSpPr>
          <p:cNvPr id="29" name="Text 26"/>
          <p:cNvSpPr txBox="1"/>
          <p:nvPr/>
        </p:nvSpPr>
        <p:spPr>
          <a:xfrm>
            <a:off x="7406640" y="4617720"/>
            <a:ext cx="397764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channel labels with leading spaces (POS, Net Banking)</a:t>
            </a:r>
            <a:endParaRPr lang="en-US" sz="1400" dirty="0"/>
          </a:p>
        </p:txBody>
      </p:sp>
      <p:sp>
        <p:nvSpPr>
          <p:cNvPr id="30" name="Text 27"/>
          <p:cNvSpPr txBox="1"/>
          <p:nvPr/>
        </p:nvSpPr>
        <p:spPr>
          <a:xfrm>
            <a:off x="6217920" y="5577840"/>
            <a:ext cx="5212080" cy="45720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Total Transactions uses DISTINCTCOUNT, so duplicates do not inflate the count, but they would still inflate summed amounts.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DAX measures: four core metrics, each with a prior-year comparison</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017520"/>
                <a:gridCol w="4754880"/>
                <a:gridCol w="329184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DAX logic</a:t>
                      </a:r>
                      <a:endParaRPr lang="en-US" sz="13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Total Amount</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SUM(amount)</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Headline transaction value</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Total Transactions</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DISTINCTCOUNT(transaction_id)</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Unique transaction volume</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AVG Transaction Value</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AVERAGE(amount)</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Average ticket size</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Total Fees / Total Tax</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SUM(fee_amount) / SUM(tax_amount)</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Revenue and tax tracking</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PY (prior year)</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CALCULATE([Measure], SAMEPERIODLASTYEAR(Date))</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Same period, previous year</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YoY / YoY %</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[Measure] − [PY]  /  DIVIDE([YoY], [PY])</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Absolute and % growth</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Selected Year / Dynamic Measure</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SELECTEDVALUE(Year) / SELECTEDVALUE(Dynamic Title)</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Dynamic card title and subtitle</a:t>
                      </a:r>
                      <a:endParaRPr lang="en-US" sz="12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577840"/>
            <a:ext cx="1106424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23 measures in total: 5 base metrics × (base, PY, YoY, YoY %) plus 3 title and selection helpers.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Dashboard design: filters on the left, KPIs on top, six linked visuals below</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371600"/>
            <a:ext cx="6583680" cy="3474720"/>
          </a:xfrm>
          <a:prstGeom prst="rect">
            <a:avLst/>
          </a:prstGeom>
          <a:solidFill>
            <a:srgbClr val="FFFFFF"/>
          </a:solidFill>
          <a:ln w="12700">
            <a:solidFill>
              <a:srgbClr val="E2E8F0"/>
            </a:solidFill>
            <a:prstDash val="solid"/>
          </a:ln>
        </p:spPr>
      </p:sp>
      <p:sp>
        <p:nvSpPr>
          <p:cNvPr id="7" name="Shape 4"/>
          <p:cNvSpPr/>
          <p:nvPr/>
        </p:nvSpPr>
        <p:spPr>
          <a:xfrm>
            <a:off x="548640" y="1371600"/>
            <a:ext cx="760781" cy="3474720"/>
          </a:xfrm>
          <a:prstGeom prst="rect">
            <a:avLst/>
          </a:prstGeom>
          <a:solidFill>
            <a:srgbClr val="0B2545"/>
          </a:solidFill>
          <a:ln w="12700">
            <a:solidFill>
              <a:srgbClr val="FFFFFF"/>
            </a:solidFill>
            <a:prstDash val="solid"/>
          </a:ln>
        </p:spPr>
      </p:sp>
      <p:sp>
        <p:nvSpPr>
          <p:cNvPr id="8" name="Text 5"/>
          <p:cNvSpPr txBox="1"/>
          <p:nvPr/>
        </p:nvSpPr>
        <p:spPr>
          <a:xfrm>
            <a:off x="548640" y="1371600"/>
            <a:ext cx="760781" cy="3474720"/>
          </a:xfrm>
          <a:prstGeom prst="rect">
            <a:avLst/>
          </a:prstGeom>
          <a:noFill/>
          <a:ln/>
        </p:spPr>
        <p:txBody>
          <a:bodyPr wrap="square" lIns="25400" tIns="25400" rIns="25400" bIns="254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Logo &amp; slicers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Year</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Occupation</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Merchant category</a:t>
            </a:r>
            <a:endParaRPr lang="en-US" sz="900" dirty="0"/>
          </a:p>
        </p:txBody>
      </p:sp>
      <p:sp>
        <p:nvSpPr>
          <p:cNvPr id="9" name="Shape 6"/>
          <p:cNvSpPr/>
          <p:nvPr/>
        </p:nvSpPr>
        <p:spPr>
          <a:xfrm>
            <a:off x="1309421" y="1371600"/>
            <a:ext cx="5457139" cy="329184"/>
          </a:xfrm>
          <a:prstGeom prst="rect">
            <a:avLst/>
          </a:prstGeom>
          <a:solidFill>
            <a:srgbClr val="1D4E89"/>
          </a:solidFill>
          <a:ln w="12700">
            <a:solidFill>
              <a:srgbClr val="FFFFFF"/>
            </a:solidFill>
            <a:prstDash val="solid"/>
          </a:ln>
        </p:spPr>
      </p:sp>
      <p:sp>
        <p:nvSpPr>
          <p:cNvPr id="10" name="Text 7"/>
          <p:cNvSpPr txBox="1"/>
          <p:nvPr/>
        </p:nvSpPr>
        <p:spPr>
          <a:xfrm>
            <a:off x="1309421" y="1371600"/>
            <a:ext cx="5457139" cy="329184"/>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Dashboard title  ·  selected metric &amp; year</a:t>
            </a:r>
            <a:endParaRPr lang="en-US" sz="1000" dirty="0"/>
          </a:p>
        </p:txBody>
      </p:sp>
      <p:sp>
        <p:nvSpPr>
          <p:cNvPr id="11" name="Shape 8"/>
          <p:cNvSpPr/>
          <p:nvPr/>
        </p:nvSpPr>
        <p:spPr>
          <a:xfrm>
            <a:off x="1309421" y="1722730"/>
            <a:ext cx="5457139" cy="475488"/>
          </a:xfrm>
          <a:prstGeom prst="rect">
            <a:avLst/>
          </a:prstGeom>
          <a:solidFill>
            <a:srgbClr val="0F9D9A"/>
          </a:solidFill>
          <a:ln w="12700">
            <a:solidFill>
              <a:srgbClr val="FFFFFF"/>
            </a:solidFill>
            <a:prstDash val="solid"/>
          </a:ln>
        </p:spPr>
      </p:sp>
      <p:sp>
        <p:nvSpPr>
          <p:cNvPr id="12" name="Text 9"/>
          <p:cNvSpPr txBox="1"/>
          <p:nvPr/>
        </p:nvSpPr>
        <p:spPr>
          <a:xfrm>
            <a:off x="1309421" y="1722730"/>
            <a:ext cx="5457139" cy="475488"/>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KPI strip: Total Amount · Transactions · Avg Value · Fees · Tax</a:t>
            </a:r>
            <a:endParaRPr lang="en-US" sz="1000" dirty="0"/>
          </a:p>
        </p:txBody>
      </p:sp>
      <p:sp>
        <p:nvSpPr>
          <p:cNvPr id="13" name="Shape 10"/>
          <p:cNvSpPr/>
          <p:nvPr/>
        </p:nvSpPr>
        <p:spPr>
          <a:xfrm>
            <a:off x="1309421" y="2249424"/>
            <a:ext cx="2238451" cy="1097280"/>
          </a:xfrm>
          <a:prstGeom prst="rect">
            <a:avLst/>
          </a:prstGeom>
          <a:solidFill>
            <a:srgbClr val="6B7280"/>
          </a:solidFill>
          <a:ln w="12700">
            <a:solidFill>
              <a:srgbClr val="FFFFFF"/>
            </a:solidFill>
            <a:prstDash val="solid"/>
          </a:ln>
        </p:spPr>
      </p:sp>
      <p:sp>
        <p:nvSpPr>
          <p:cNvPr id="14" name="Text 11"/>
          <p:cNvSpPr txBox="1"/>
          <p:nvPr/>
        </p:nvSpPr>
        <p:spPr>
          <a:xfrm>
            <a:off x="1309421" y="2249424"/>
            <a:ext cx="2238451" cy="109728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Area chart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Amount by month</a:t>
            </a:r>
            <a:endParaRPr lang="en-US" sz="1000" dirty="0"/>
          </a:p>
        </p:txBody>
      </p:sp>
      <p:sp>
        <p:nvSpPr>
          <p:cNvPr id="15" name="Shape 12"/>
          <p:cNvSpPr/>
          <p:nvPr/>
        </p:nvSpPr>
        <p:spPr>
          <a:xfrm>
            <a:off x="3642970" y="2249424"/>
            <a:ext cx="1506931" cy="1097280"/>
          </a:xfrm>
          <a:prstGeom prst="rect">
            <a:avLst/>
          </a:prstGeom>
          <a:solidFill>
            <a:srgbClr val="F2A541"/>
          </a:solidFill>
          <a:ln w="12700">
            <a:solidFill>
              <a:srgbClr val="FFFFFF"/>
            </a:solidFill>
            <a:prstDash val="solid"/>
          </a:ln>
        </p:spPr>
      </p:sp>
      <p:sp>
        <p:nvSpPr>
          <p:cNvPr id="16" name="Text 13"/>
          <p:cNvSpPr txBox="1"/>
          <p:nvPr/>
        </p:nvSpPr>
        <p:spPr>
          <a:xfrm>
            <a:off x="3642970" y="2249424"/>
            <a:ext cx="1506931" cy="1097280"/>
          </a:xfrm>
          <a:prstGeom prst="rect">
            <a:avLst/>
          </a:prstGeom>
          <a:noFill/>
          <a:ln/>
        </p:spPr>
        <p:txBody>
          <a:bodyPr wrap="square" lIns="25400" tIns="25400" rIns="25400" bIns="2540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Donut</a:t>
            </a:r>
            <a:endParaRPr lang="en-US" sz="1000" dirty="0"/>
          </a:p>
          <a:p>
            <a:pPr algn="ctr" indent="0" marL="0">
              <a:buNone/>
            </a:pPr>
            <a:r>
              <a:rPr lang="en-US" sz="1000" b="1" dirty="0">
                <a:solidFill>
                  <a:srgbClr val="0B2545"/>
                </a:solidFill>
                <a:latin typeface="Calibri" pitchFamily="34" charset="0"/>
                <a:ea typeface="Calibri" pitchFamily="34" charset="-122"/>
                <a:cs typeface="Calibri" pitchFamily="34" charset="-120"/>
              </a:rPr>
              <a:t>Amount by status</a:t>
            </a:r>
            <a:endParaRPr lang="en-US" sz="1000" dirty="0"/>
          </a:p>
        </p:txBody>
      </p:sp>
      <p:sp>
        <p:nvSpPr>
          <p:cNvPr id="17" name="Shape 14"/>
          <p:cNvSpPr/>
          <p:nvPr/>
        </p:nvSpPr>
        <p:spPr>
          <a:xfrm>
            <a:off x="5252314" y="2249424"/>
            <a:ext cx="1514246" cy="1097280"/>
          </a:xfrm>
          <a:prstGeom prst="rect">
            <a:avLst/>
          </a:prstGeom>
          <a:solidFill>
            <a:srgbClr val="6B7280"/>
          </a:solidFill>
          <a:ln w="12700">
            <a:solidFill>
              <a:srgbClr val="FFFFFF"/>
            </a:solidFill>
            <a:prstDash val="solid"/>
          </a:ln>
        </p:spPr>
      </p:sp>
      <p:sp>
        <p:nvSpPr>
          <p:cNvPr id="18" name="Text 15"/>
          <p:cNvSpPr txBox="1"/>
          <p:nvPr/>
        </p:nvSpPr>
        <p:spPr>
          <a:xfrm>
            <a:off x="5252314" y="2249424"/>
            <a:ext cx="1514246" cy="109728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Bar chart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Amount by segment</a:t>
            </a:r>
            <a:endParaRPr lang="en-US" sz="1000" dirty="0"/>
          </a:p>
        </p:txBody>
      </p:sp>
      <p:sp>
        <p:nvSpPr>
          <p:cNvPr id="19" name="Shape 16"/>
          <p:cNvSpPr/>
          <p:nvPr/>
        </p:nvSpPr>
        <p:spPr>
          <a:xfrm>
            <a:off x="1309421" y="3427171"/>
            <a:ext cx="1901952" cy="1097280"/>
          </a:xfrm>
          <a:prstGeom prst="rect">
            <a:avLst/>
          </a:prstGeom>
          <a:solidFill>
            <a:srgbClr val="1D4E89"/>
          </a:solidFill>
          <a:ln w="12700">
            <a:solidFill>
              <a:srgbClr val="FFFFFF"/>
            </a:solidFill>
            <a:prstDash val="solid"/>
          </a:ln>
        </p:spPr>
      </p:sp>
      <p:sp>
        <p:nvSpPr>
          <p:cNvPr id="20" name="Text 17"/>
          <p:cNvSpPr txBox="1"/>
          <p:nvPr/>
        </p:nvSpPr>
        <p:spPr>
          <a:xfrm>
            <a:off x="1309421" y="3427171"/>
            <a:ext cx="1901952" cy="109728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Bar chart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Amount by state</a:t>
            </a:r>
            <a:endParaRPr lang="en-US" sz="1000" dirty="0"/>
          </a:p>
        </p:txBody>
      </p:sp>
      <p:sp>
        <p:nvSpPr>
          <p:cNvPr id="21" name="Shape 18"/>
          <p:cNvSpPr/>
          <p:nvPr/>
        </p:nvSpPr>
        <p:spPr>
          <a:xfrm>
            <a:off x="3328416" y="3427171"/>
            <a:ext cx="1803197" cy="1097280"/>
          </a:xfrm>
          <a:prstGeom prst="rect">
            <a:avLst/>
          </a:prstGeom>
          <a:solidFill>
            <a:srgbClr val="0B2545"/>
          </a:solidFill>
          <a:ln w="12700">
            <a:solidFill>
              <a:srgbClr val="FFFFFF"/>
            </a:solidFill>
            <a:prstDash val="solid"/>
          </a:ln>
        </p:spPr>
      </p:sp>
      <p:sp>
        <p:nvSpPr>
          <p:cNvPr id="22" name="Text 19"/>
          <p:cNvSpPr txBox="1"/>
          <p:nvPr/>
        </p:nvSpPr>
        <p:spPr>
          <a:xfrm>
            <a:off x="3328416" y="3427171"/>
            <a:ext cx="1803197" cy="109728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Table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By transaction type</a:t>
            </a:r>
            <a:endParaRPr lang="en-US" sz="1000" dirty="0"/>
          </a:p>
        </p:txBody>
      </p:sp>
      <p:sp>
        <p:nvSpPr>
          <p:cNvPr id="23" name="Shape 20"/>
          <p:cNvSpPr/>
          <p:nvPr/>
        </p:nvSpPr>
        <p:spPr>
          <a:xfrm>
            <a:off x="5252314" y="3427171"/>
            <a:ext cx="1514246" cy="1097280"/>
          </a:xfrm>
          <a:prstGeom prst="rect">
            <a:avLst/>
          </a:prstGeom>
          <a:solidFill>
            <a:srgbClr val="F2A541"/>
          </a:solidFill>
          <a:ln w="12700">
            <a:solidFill>
              <a:srgbClr val="FFFFFF"/>
            </a:solidFill>
            <a:prstDash val="solid"/>
          </a:ln>
        </p:spPr>
      </p:sp>
      <p:sp>
        <p:nvSpPr>
          <p:cNvPr id="24" name="Text 21"/>
          <p:cNvSpPr txBox="1"/>
          <p:nvPr/>
        </p:nvSpPr>
        <p:spPr>
          <a:xfrm>
            <a:off x="5252314" y="3427171"/>
            <a:ext cx="1514246" cy="1097280"/>
          </a:xfrm>
          <a:prstGeom prst="rect">
            <a:avLst/>
          </a:prstGeom>
          <a:noFill/>
          <a:ln/>
        </p:spPr>
        <p:txBody>
          <a:bodyPr wrap="square" lIns="25400" tIns="25400" rIns="25400" bIns="2540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Donut</a:t>
            </a:r>
            <a:endParaRPr lang="en-US" sz="1000" dirty="0"/>
          </a:p>
          <a:p>
            <a:pPr algn="ctr" indent="0" marL="0">
              <a:buNone/>
            </a:pPr>
            <a:r>
              <a:rPr lang="en-US" sz="1000" b="1" dirty="0">
                <a:solidFill>
                  <a:srgbClr val="0B2545"/>
                </a:solidFill>
                <a:latin typeface="Calibri" pitchFamily="34" charset="0"/>
                <a:ea typeface="Calibri" pitchFamily="34" charset="-122"/>
                <a:cs typeface="Calibri" pitchFamily="34" charset="-120"/>
              </a:rPr>
              <a:t>Amount by gender</a:t>
            </a:r>
            <a:endParaRPr lang="en-US" sz="1000" dirty="0"/>
          </a:p>
        </p:txBody>
      </p:sp>
      <p:sp>
        <p:nvSpPr>
          <p:cNvPr id="25" name="Shape 22"/>
          <p:cNvSpPr/>
          <p:nvPr/>
        </p:nvSpPr>
        <p:spPr>
          <a:xfrm>
            <a:off x="7406640" y="1371600"/>
            <a:ext cx="4206240" cy="4206240"/>
          </a:xfrm>
          <a:prstGeom prst="rect">
            <a:avLst/>
          </a:prstGeom>
          <a:solidFill>
            <a:srgbClr val="FFFFFF"/>
          </a:solidFill>
          <a:ln w="9525">
            <a:solidFill>
              <a:srgbClr val="E2E8F0"/>
            </a:solidFill>
            <a:prstDash val="solid"/>
          </a:ln>
        </p:spPr>
      </p:sp>
      <p:sp>
        <p:nvSpPr>
          <p:cNvPr id="26" name="Shape 23"/>
          <p:cNvSpPr/>
          <p:nvPr/>
        </p:nvSpPr>
        <p:spPr>
          <a:xfrm>
            <a:off x="7406640" y="1371600"/>
            <a:ext cx="64008" cy="4206240"/>
          </a:xfrm>
          <a:prstGeom prst="rect">
            <a:avLst/>
          </a:prstGeom>
          <a:solidFill>
            <a:srgbClr val="0F9D9A"/>
          </a:solidFill>
          <a:ln w="12700">
            <a:solidFill>
              <a:srgbClr val="0F9D9A"/>
            </a:solidFill>
            <a:prstDash val="solid"/>
          </a:ln>
        </p:spPr>
      </p:sp>
      <p:sp>
        <p:nvSpPr>
          <p:cNvPr id="27" name="Text 24"/>
          <p:cNvSpPr txBox="1"/>
          <p:nvPr/>
        </p:nvSpPr>
        <p:spPr>
          <a:xfrm>
            <a:off x="7680960" y="1554480"/>
            <a:ext cx="37490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Interactivity</a:t>
            </a:r>
            <a:endParaRPr lang="en-US" sz="1600" dirty="0"/>
          </a:p>
        </p:txBody>
      </p:sp>
      <p:sp>
        <p:nvSpPr>
          <p:cNvPr id="28" name="Text 25"/>
          <p:cNvSpPr txBox="1"/>
          <p:nvPr/>
        </p:nvSpPr>
        <p:spPr>
          <a:xfrm>
            <a:off x="7680960" y="2011680"/>
            <a:ext cx="3703320" cy="33832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Year slicer is preset to 2025</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A metric slicer swaps the headline card between amount, fees, tax and transactions</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Occupation and merchant slicers filter every visual</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Clicking a bar or donut slice cross-filters the other charts</a:t>
            </a:r>
            <a:endParaRPr lang="en-US" sz="1400" dirty="0"/>
          </a:p>
        </p:txBody>
      </p:sp>
      <p:sp>
        <p:nvSpPr>
          <p:cNvPr id="29" name="Text 26"/>
          <p:cNvSpPr txBox="1"/>
          <p:nvPr/>
        </p:nvSpPr>
        <p:spPr>
          <a:xfrm>
            <a:off x="548640" y="5074920"/>
            <a:ext cx="658368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Wireframe drawn to scale from the report page (1800 × 950)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KPI summary: 2025 value grew 1.5% while volume slipped slightly</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325880"/>
            <a:ext cx="2029968" cy="1600200"/>
          </a:xfrm>
          <a:prstGeom prst="rect">
            <a:avLst/>
          </a:prstGeom>
          <a:solidFill>
            <a:srgbClr val="FFFFFF"/>
          </a:solidFill>
          <a:ln w="9525">
            <a:solidFill>
              <a:srgbClr val="E2E8F0"/>
            </a:solidFill>
            <a:prstDash val="solid"/>
          </a:ln>
        </p:spPr>
      </p:sp>
      <p:sp>
        <p:nvSpPr>
          <p:cNvPr id="7" name="Text 4"/>
          <p:cNvSpPr txBox="1"/>
          <p:nvPr/>
        </p:nvSpPr>
        <p:spPr>
          <a:xfrm>
            <a:off x="731520" y="1417320"/>
            <a:ext cx="1664208"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Total Amount</a:t>
            </a:r>
            <a:endParaRPr lang="en-US" sz="1300" dirty="0"/>
          </a:p>
        </p:txBody>
      </p:sp>
      <p:sp>
        <p:nvSpPr>
          <p:cNvPr id="8" name="Text 5"/>
          <p:cNvSpPr txBox="1"/>
          <p:nvPr/>
        </p:nvSpPr>
        <p:spPr>
          <a:xfrm>
            <a:off x="731520" y="1737360"/>
            <a:ext cx="1664208" cy="59436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₹137.69M</a:t>
            </a:r>
            <a:endParaRPr lang="en-US" sz="2800" dirty="0"/>
          </a:p>
        </p:txBody>
      </p:sp>
      <p:sp>
        <p:nvSpPr>
          <p:cNvPr id="9" name="Text 6"/>
          <p:cNvSpPr txBox="1"/>
          <p:nvPr/>
        </p:nvSpPr>
        <p:spPr>
          <a:xfrm>
            <a:off x="731520" y="2423160"/>
            <a:ext cx="1664208" cy="320040"/>
          </a:xfrm>
          <a:prstGeom prst="rect">
            <a:avLst/>
          </a:prstGeom>
          <a:noFill/>
          <a:ln/>
        </p:spPr>
        <p:txBody>
          <a:bodyPr wrap="square" lIns="0" tIns="0" rIns="0" bIns="0" rtlCol="0" anchor="ctr"/>
          <a:lstStyle/>
          <a:p>
            <a:pPr indent="0" marL="0">
              <a:buNone/>
            </a:pPr>
            <a:r>
              <a:rPr lang="en-US" sz="1300" b="1" dirty="0">
                <a:solidFill>
                  <a:srgbClr val="2E9E6B"/>
                </a:solidFill>
                <a:latin typeface="Calibri" pitchFamily="34" charset="0"/>
                <a:ea typeface="Calibri" pitchFamily="34" charset="-122"/>
                <a:cs typeface="Calibri" pitchFamily="34" charset="-120"/>
              </a:rPr>
              <a:t>▲ +1.5% vs 2024</a:t>
            </a:r>
            <a:endParaRPr lang="en-US" sz="1300" dirty="0"/>
          </a:p>
        </p:txBody>
      </p:sp>
      <p:sp>
        <p:nvSpPr>
          <p:cNvPr id="10" name="Shape 7"/>
          <p:cNvSpPr/>
          <p:nvPr/>
        </p:nvSpPr>
        <p:spPr>
          <a:xfrm>
            <a:off x="2807208" y="1325880"/>
            <a:ext cx="2029968" cy="1600200"/>
          </a:xfrm>
          <a:prstGeom prst="rect">
            <a:avLst/>
          </a:prstGeom>
          <a:solidFill>
            <a:srgbClr val="FFFFFF"/>
          </a:solidFill>
          <a:ln w="9525">
            <a:solidFill>
              <a:srgbClr val="E2E8F0"/>
            </a:solidFill>
            <a:prstDash val="solid"/>
          </a:ln>
        </p:spPr>
      </p:sp>
      <p:sp>
        <p:nvSpPr>
          <p:cNvPr id="11" name="Text 8"/>
          <p:cNvSpPr txBox="1"/>
          <p:nvPr/>
        </p:nvSpPr>
        <p:spPr>
          <a:xfrm>
            <a:off x="2990088" y="1417320"/>
            <a:ext cx="1664208"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Transactions</a:t>
            </a:r>
            <a:endParaRPr lang="en-US" sz="1300" dirty="0"/>
          </a:p>
        </p:txBody>
      </p:sp>
      <p:sp>
        <p:nvSpPr>
          <p:cNvPr id="12" name="Text 9"/>
          <p:cNvSpPr txBox="1"/>
          <p:nvPr/>
        </p:nvSpPr>
        <p:spPr>
          <a:xfrm>
            <a:off x="2990088" y="1737360"/>
            <a:ext cx="1664208" cy="59436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14,939</a:t>
            </a:r>
            <a:endParaRPr lang="en-US" sz="2800" dirty="0"/>
          </a:p>
        </p:txBody>
      </p:sp>
      <p:sp>
        <p:nvSpPr>
          <p:cNvPr id="13" name="Text 10"/>
          <p:cNvSpPr txBox="1"/>
          <p:nvPr/>
        </p:nvSpPr>
        <p:spPr>
          <a:xfrm>
            <a:off x="2990088" y="2423160"/>
            <a:ext cx="1664208" cy="320040"/>
          </a:xfrm>
          <a:prstGeom prst="rect">
            <a:avLst/>
          </a:prstGeom>
          <a:noFill/>
          <a:ln/>
        </p:spPr>
        <p:txBody>
          <a:bodyPr wrap="square" lIns="0" tIns="0" rIns="0" bIns="0" rtlCol="0" anchor="ctr"/>
          <a:lstStyle/>
          <a:p>
            <a:pPr indent="0" marL="0">
              <a:buNone/>
            </a:pPr>
            <a:r>
              <a:rPr lang="en-US" sz="1300" b="1" dirty="0">
                <a:solidFill>
                  <a:srgbClr val="D1495B"/>
                </a:solidFill>
                <a:latin typeface="Calibri" pitchFamily="34" charset="0"/>
                <a:ea typeface="Calibri" pitchFamily="34" charset="-122"/>
                <a:cs typeface="Calibri" pitchFamily="34" charset="-120"/>
              </a:rPr>
              <a:t>▼ −0.5% vs 2024</a:t>
            </a:r>
            <a:endParaRPr lang="en-US" sz="1300" dirty="0"/>
          </a:p>
        </p:txBody>
      </p:sp>
      <p:sp>
        <p:nvSpPr>
          <p:cNvPr id="14" name="Shape 11"/>
          <p:cNvSpPr/>
          <p:nvPr/>
        </p:nvSpPr>
        <p:spPr>
          <a:xfrm>
            <a:off x="5065776" y="1325880"/>
            <a:ext cx="2029968" cy="1600200"/>
          </a:xfrm>
          <a:prstGeom prst="rect">
            <a:avLst/>
          </a:prstGeom>
          <a:solidFill>
            <a:srgbClr val="FFFFFF"/>
          </a:solidFill>
          <a:ln w="9525">
            <a:solidFill>
              <a:srgbClr val="E2E8F0"/>
            </a:solidFill>
            <a:prstDash val="solid"/>
          </a:ln>
        </p:spPr>
      </p:sp>
      <p:sp>
        <p:nvSpPr>
          <p:cNvPr id="15" name="Text 12"/>
          <p:cNvSpPr txBox="1"/>
          <p:nvPr/>
        </p:nvSpPr>
        <p:spPr>
          <a:xfrm>
            <a:off x="5248656" y="1417320"/>
            <a:ext cx="1664208"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Avg Value</a:t>
            </a:r>
            <a:endParaRPr lang="en-US" sz="1300" dirty="0"/>
          </a:p>
        </p:txBody>
      </p:sp>
      <p:sp>
        <p:nvSpPr>
          <p:cNvPr id="16" name="Text 13"/>
          <p:cNvSpPr txBox="1"/>
          <p:nvPr/>
        </p:nvSpPr>
        <p:spPr>
          <a:xfrm>
            <a:off x="5248656" y="1737360"/>
            <a:ext cx="1664208" cy="59436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₹9,204</a:t>
            </a:r>
            <a:endParaRPr lang="en-US" sz="2800" dirty="0"/>
          </a:p>
        </p:txBody>
      </p:sp>
      <p:sp>
        <p:nvSpPr>
          <p:cNvPr id="17" name="Text 14"/>
          <p:cNvSpPr txBox="1"/>
          <p:nvPr/>
        </p:nvSpPr>
        <p:spPr>
          <a:xfrm>
            <a:off x="5248656" y="2423160"/>
            <a:ext cx="1664208" cy="320040"/>
          </a:xfrm>
          <a:prstGeom prst="rect">
            <a:avLst/>
          </a:prstGeom>
          <a:noFill/>
          <a:ln/>
        </p:spPr>
        <p:txBody>
          <a:bodyPr wrap="square" lIns="0" tIns="0" rIns="0" bIns="0" rtlCol="0" anchor="ctr"/>
          <a:lstStyle/>
          <a:p>
            <a:pPr indent="0" marL="0">
              <a:buNone/>
            </a:pPr>
            <a:r>
              <a:rPr lang="en-US" sz="1300" b="1" dirty="0">
                <a:solidFill>
                  <a:srgbClr val="2E9E6B"/>
                </a:solidFill>
                <a:latin typeface="Calibri" pitchFamily="34" charset="0"/>
                <a:ea typeface="Calibri" pitchFamily="34" charset="-122"/>
                <a:cs typeface="Calibri" pitchFamily="34" charset="-120"/>
              </a:rPr>
              <a:t>▲ +2.1% vs 2024</a:t>
            </a:r>
            <a:endParaRPr lang="en-US" sz="1300" dirty="0"/>
          </a:p>
        </p:txBody>
      </p:sp>
      <p:sp>
        <p:nvSpPr>
          <p:cNvPr id="18" name="Shape 15"/>
          <p:cNvSpPr/>
          <p:nvPr/>
        </p:nvSpPr>
        <p:spPr>
          <a:xfrm>
            <a:off x="7324344" y="1325880"/>
            <a:ext cx="2029968" cy="1600200"/>
          </a:xfrm>
          <a:prstGeom prst="rect">
            <a:avLst/>
          </a:prstGeom>
          <a:solidFill>
            <a:srgbClr val="FFFFFF"/>
          </a:solidFill>
          <a:ln w="9525">
            <a:solidFill>
              <a:srgbClr val="E2E8F0"/>
            </a:solidFill>
            <a:prstDash val="solid"/>
          </a:ln>
        </p:spPr>
      </p:sp>
      <p:sp>
        <p:nvSpPr>
          <p:cNvPr id="19" name="Text 16"/>
          <p:cNvSpPr txBox="1"/>
          <p:nvPr/>
        </p:nvSpPr>
        <p:spPr>
          <a:xfrm>
            <a:off x="7507224" y="1417320"/>
            <a:ext cx="1664208"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Total Fees</a:t>
            </a:r>
            <a:endParaRPr lang="en-US" sz="1300" dirty="0"/>
          </a:p>
        </p:txBody>
      </p:sp>
      <p:sp>
        <p:nvSpPr>
          <p:cNvPr id="20" name="Text 17"/>
          <p:cNvSpPr txBox="1"/>
          <p:nvPr/>
        </p:nvSpPr>
        <p:spPr>
          <a:xfrm>
            <a:off x="7507224" y="1737360"/>
            <a:ext cx="1664208" cy="59436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₹217.3K</a:t>
            </a:r>
            <a:endParaRPr lang="en-US" sz="2800" dirty="0"/>
          </a:p>
        </p:txBody>
      </p:sp>
      <p:sp>
        <p:nvSpPr>
          <p:cNvPr id="21" name="Text 18"/>
          <p:cNvSpPr txBox="1"/>
          <p:nvPr/>
        </p:nvSpPr>
        <p:spPr>
          <a:xfrm>
            <a:off x="7507224" y="2423160"/>
            <a:ext cx="1664208" cy="320040"/>
          </a:xfrm>
          <a:prstGeom prst="rect">
            <a:avLst/>
          </a:prstGeom>
          <a:noFill/>
          <a:ln/>
        </p:spPr>
        <p:txBody>
          <a:bodyPr wrap="square" lIns="0" tIns="0" rIns="0" bIns="0" rtlCol="0" anchor="ctr"/>
          <a:lstStyle/>
          <a:p>
            <a:pPr indent="0" marL="0">
              <a:buNone/>
            </a:pPr>
            <a:r>
              <a:rPr lang="en-US" sz="1300" b="1" dirty="0">
                <a:solidFill>
                  <a:srgbClr val="D1495B"/>
                </a:solidFill>
                <a:latin typeface="Calibri" pitchFamily="34" charset="0"/>
                <a:ea typeface="Calibri" pitchFamily="34" charset="-122"/>
                <a:cs typeface="Calibri" pitchFamily="34" charset="-120"/>
              </a:rPr>
              <a:t>▼ −0.1% vs 2024</a:t>
            </a:r>
            <a:endParaRPr lang="en-US" sz="1300" dirty="0"/>
          </a:p>
        </p:txBody>
      </p:sp>
      <p:sp>
        <p:nvSpPr>
          <p:cNvPr id="22" name="Shape 19"/>
          <p:cNvSpPr/>
          <p:nvPr/>
        </p:nvSpPr>
        <p:spPr>
          <a:xfrm>
            <a:off x="9582912" y="1325880"/>
            <a:ext cx="2029968" cy="1600200"/>
          </a:xfrm>
          <a:prstGeom prst="rect">
            <a:avLst/>
          </a:prstGeom>
          <a:solidFill>
            <a:srgbClr val="FFFFFF"/>
          </a:solidFill>
          <a:ln w="9525">
            <a:solidFill>
              <a:srgbClr val="E2E8F0"/>
            </a:solidFill>
            <a:prstDash val="solid"/>
          </a:ln>
        </p:spPr>
      </p:sp>
      <p:sp>
        <p:nvSpPr>
          <p:cNvPr id="23" name="Text 20"/>
          <p:cNvSpPr txBox="1"/>
          <p:nvPr/>
        </p:nvSpPr>
        <p:spPr>
          <a:xfrm>
            <a:off x="9765792" y="1417320"/>
            <a:ext cx="1664208"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Total Tax</a:t>
            </a:r>
            <a:endParaRPr lang="en-US" sz="1300" dirty="0"/>
          </a:p>
        </p:txBody>
      </p:sp>
      <p:sp>
        <p:nvSpPr>
          <p:cNvPr id="24" name="Text 21"/>
          <p:cNvSpPr txBox="1"/>
          <p:nvPr/>
        </p:nvSpPr>
        <p:spPr>
          <a:xfrm>
            <a:off x="9765792" y="1737360"/>
            <a:ext cx="1664208" cy="59436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₹39.1K</a:t>
            </a:r>
            <a:endParaRPr lang="en-US" sz="2800" dirty="0"/>
          </a:p>
        </p:txBody>
      </p:sp>
      <p:sp>
        <p:nvSpPr>
          <p:cNvPr id="25" name="Text 22"/>
          <p:cNvSpPr txBox="1"/>
          <p:nvPr/>
        </p:nvSpPr>
        <p:spPr>
          <a:xfrm>
            <a:off x="9765792" y="2423160"/>
            <a:ext cx="1664208" cy="320040"/>
          </a:xfrm>
          <a:prstGeom prst="rect">
            <a:avLst/>
          </a:prstGeom>
          <a:noFill/>
          <a:ln/>
        </p:spPr>
        <p:txBody>
          <a:bodyPr wrap="square" lIns="0" tIns="0" rIns="0" bIns="0" rtlCol="0" anchor="ctr"/>
          <a:lstStyle/>
          <a:p>
            <a:pPr indent="0" marL="0">
              <a:buNone/>
            </a:pPr>
            <a:r>
              <a:rPr lang="en-US" sz="1300" b="1" dirty="0">
                <a:solidFill>
                  <a:srgbClr val="D1495B"/>
                </a:solidFill>
                <a:latin typeface="Calibri" pitchFamily="34" charset="0"/>
                <a:ea typeface="Calibri" pitchFamily="34" charset="-122"/>
                <a:cs typeface="Calibri" pitchFamily="34" charset="-120"/>
              </a:rPr>
              <a:t>▼ −0.1% vs 2024</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64240" cy="914400"/>
        </p:xfrm>
        <a:graphic>
          <a:graphicData uri="http://schemas.openxmlformats.org/drawingml/2006/table">
            <a:tbl>
              <a:tblPr/>
              <a:tblGrid>
                <a:gridCol w="2377440"/>
                <a:gridCol w="1920240"/>
                <a:gridCol w="1828800"/>
                <a:gridCol w="1737360"/>
                <a:gridCol w="1645920"/>
                <a:gridCol w="155448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Amount</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Transactions</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Avg value</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Fees</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Tax</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₹137.22M</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15,027</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₹9,117</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₹216.8K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₹39.0K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2024</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₹135.63M</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15,020</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₹9,019</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₹217.5K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₹39.2K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₹137.69M</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14,939</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₹9,204</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₹217.3K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₹39.1K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2026 (Jan–Apr)</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₹45.38M</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4,991</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₹9,083</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₹75.5K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₹13.6K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All periods</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AF4F4"/>
                    </a:solidFill>
                  </a:tcPr>
                </a:tc>
                <a:tc>
                  <a:txBody>
                    <a:bodyPr/>
                    <a:lstStyle/>
                    <a:p>
                      <a:pPr algn="r" indent="0" marL="0">
                        <a:buNone/>
                      </a:pPr>
                      <a:r>
                        <a:rPr lang="en-US" sz="1300" b="1" dirty="0">
                          <a:solidFill>
                            <a:srgbClr val="1F2937"/>
                          </a:solidFill>
                          <a:latin typeface="Calibri" pitchFamily="34" charset="0"/>
                          <a:ea typeface="Calibri" pitchFamily="34" charset="-122"/>
                          <a:cs typeface="Calibri" pitchFamily="34" charset="-120"/>
                        </a:rPr>
                        <a:t>₹455.92M</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AF4F4"/>
                    </a:solidFill>
                  </a:tcPr>
                </a:tc>
                <a:tc>
                  <a:txBody>
                    <a:bodyPr/>
                    <a:lstStyle/>
                    <a:p>
                      <a:pPr algn="r" indent="0" marL="0">
                        <a:buNone/>
                      </a:pPr>
                      <a:r>
                        <a:rPr lang="en-US" sz="1300" b="1" dirty="0">
                          <a:solidFill>
                            <a:srgbClr val="1F2937"/>
                          </a:solidFill>
                          <a:latin typeface="Calibri" pitchFamily="34" charset="0"/>
                          <a:ea typeface="Calibri" pitchFamily="34" charset="-122"/>
                          <a:cs typeface="Calibri" pitchFamily="34" charset="-120"/>
                        </a:rPr>
                        <a:t>49,977</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AF4F4"/>
                    </a:solidFill>
                  </a:tcPr>
                </a:tc>
                <a:tc>
                  <a:txBody>
                    <a:bodyPr/>
                    <a:lstStyle/>
                    <a:p>
                      <a:pPr algn="r" indent="0" marL="0">
                        <a:buNone/>
                      </a:pPr>
                      <a:r>
                        <a:rPr lang="en-US" sz="1300" b="1" dirty="0">
                          <a:solidFill>
                            <a:srgbClr val="1F2937"/>
                          </a:solidFill>
                          <a:latin typeface="Calibri" pitchFamily="34" charset="0"/>
                          <a:ea typeface="Calibri" pitchFamily="34" charset="-122"/>
                          <a:cs typeface="Calibri" pitchFamily="34" charset="-120"/>
                        </a:rPr>
                        <a:t>₹9,110</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AF4F4"/>
                    </a:solidFill>
                  </a:tcPr>
                </a:tc>
                <a:tc>
                  <a:txBody>
                    <a:bodyPr/>
                    <a:lstStyle/>
                    <a:p>
                      <a:pPr algn="r" indent="0" marL="0">
                        <a:buNone/>
                      </a:pPr>
                      <a:r>
                        <a:rPr lang="en-US" sz="1300" b="1" dirty="0">
                          <a:solidFill>
                            <a:srgbClr val="1F2937"/>
                          </a:solidFill>
                          <a:latin typeface="Calibri" pitchFamily="34" charset="0"/>
                          <a:ea typeface="Calibri" pitchFamily="34" charset="-122"/>
                          <a:cs typeface="Calibri" pitchFamily="34" charset="-120"/>
                        </a:rPr>
                        <a:t>₹727.1K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AF4F4"/>
                    </a:solidFill>
                  </a:tcPr>
                </a:tc>
                <a:tc>
                  <a:txBody>
                    <a:bodyPr/>
                    <a:lstStyle/>
                    <a:p>
                      <a:pPr algn="r" indent="0" marL="0">
                        <a:buNone/>
                      </a:pPr>
                      <a:r>
                        <a:rPr lang="en-US" sz="1300" b="1" dirty="0">
                          <a:solidFill>
                            <a:srgbClr val="1F2937"/>
                          </a:solidFill>
                          <a:latin typeface="Calibri" pitchFamily="34" charset="0"/>
                          <a:ea typeface="Calibri" pitchFamily="34" charset="-122"/>
                          <a:cs typeface="Calibri" pitchFamily="34" charset="-120"/>
                        </a:rPr>
                        <a:t>₹130.9K</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AF4F4"/>
                    </a:solidFill>
                  </a:tcPr>
                </a:tc>
              </a:tr>
            </a:tbl>
          </a:graphicData>
        </a:graphic>
      </p:graphicFrame>
      <p:sp>
        <p:nvSpPr>
          <p:cNvPr id="27" name="Text 23"/>
          <p:cNvSpPr txBox="1"/>
          <p:nvPr/>
        </p:nvSpPr>
        <p:spPr>
          <a:xfrm>
            <a:off x="548640" y="6126480"/>
            <a:ext cx="1106424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Amounts are in INR (all transactions are in INR). Total Amount includes all statuses, so it is gross value, not only successful value.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Monthly trend: stable at about ₹11M a month, with no strong seasonality</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371600"/>
            <a:ext cx="7223760" cy="4754880"/>
          </a:xfrm>
          <a:prstGeom prst="rect">
            <a:avLst/>
          </a:prstGeom>
          <a:solidFill>
            <a:srgbClr val="FFFFFF"/>
          </a:solidFill>
          <a:ln w="9525">
            <a:solidFill>
              <a:srgbClr val="E2E8F0"/>
            </a:solidFill>
            <a:prstDash val="solid"/>
          </a:ln>
        </p:spPr>
      </p:sp>
      <p:graphicFrame>
        <p:nvGraphicFramePr>
          <p:cNvPr id="7" name="Chart 0" descr=""/>
          <p:cNvGraphicFramePr/>
          <p:nvPr/>
        </p:nvGraphicFramePr>
        <p:xfrm>
          <a:off x="685800" y="15087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046720" y="1371600"/>
            <a:ext cx="3566160" cy="4754880"/>
          </a:xfrm>
          <a:prstGeom prst="rect">
            <a:avLst/>
          </a:prstGeom>
          <a:solidFill>
            <a:srgbClr val="FFFFFF"/>
          </a:solidFill>
          <a:ln w="9525">
            <a:solidFill>
              <a:srgbClr val="E2E8F0"/>
            </a:solidFill>
            <a:prstDash val="solid"/>
          </a:ln>
        </p:spPr>
      </p:sp>
      <p:sp>
        <p:nvSpPr>
          <p:cNvPr id="9" name="Shape 5"/>
          <p:cNvSpPr/>
          <p:nvPr/>
        </p:nvSpPr>
        <p:spPr>
          <a:xfrm>
            <a:off x="8046720" y="1371600"/>
            <a:ext cx="64008" cy="4754880"/>
          </a:xfrm>
          <a:prstGeom prst="rect">
            <a:avLst/>
          </a:prstGeom>
          <a:solidFill>
            <a:srgbClr val="0F9D9A"/>
          </a:solidFill>
          <a:ln w="12700">
            <a:solidFill>
              <a:srgbClr val="0F9D9A"/>
            </a:solidFill>
            <a:prstDash val="solid"/>
          </a:ln>
        </p:spPr>
      </p:sp>
      <p:sp>
        <p:nvSpPr>
          <p:cNvPr id="10" name="Text 6"/>
          <p:cNvSpPr txBox="1"/>
          <p:nvPr/>
        </p:nvSpPr>
        <p:spPr>
          <a:xfrm>
            <a:off x="8321040" y="1554480"/>
            <a:ext cx="31089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Key insights</a:t>
            </a:r>
            <a:endParaRPr lang="en-US" sz="1600" dirty="0"/>
          </a:p>
        </p:txBody>
      </p:sp>
      <p:sp>
        <p:nvSpPr>
          <p:cNvPr id="11" name="Text 7"/>
          <p:cNvSpPr txBox="1"/>
          <p:nvPr/>
        </p:nvSpPr>
        <p:spPr>
          <a:xfrm>
            <a:off x="8321040" y="2011680"/>
            <a:ext cx="3063240" cy="39319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2025 total ₹137.7M, up 1.5% on 2024 (₹135.6M)</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Best 2025 month: July at ₹12.5M; weakest: September at ₹10.0M</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Jan–Apr 2026 is ₹45.4M, 1.1% below Jan–Apr 2025</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Value per year stays within a 2% band, so the business is steady, not growing fast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Transaction type: Loan EMI and Transfers make up over half of all value</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48640" y="1371600"/>
            <a:ext cx="7223760" cy="4754880"/>
          </a:xfrm>
          <a:prstGeom prst="rect">
            <a:avLst/>
          </a:prstGeom>
          <a:solidFill>
            <a:srgbClr val="FFFFFF"/>
          </a:solidFill>
          <a:ln w="9525">
            <a:solidFill>
              <a:srgbClr val="E2E8F0"/>
            </a:solidFill>
            <a:prstDash val="solid"/>
          </a:ln>
        </p:spPr>
      </p:sp>
      <p:graphicFrame>
        <p:nvGraphicFramePr>
          <p:cNvPr id="7" name="Chart 0" descr=""/>
          <p:cNvGraphicFramePr/>
          <p:nvPr/>
        </p:nvGraphicFramePr>
        <p:xfrm>
          <a:off x="685800" y="15087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046720" y="1371600"/>
            <a:ext cx="3566160" cy="4754880"/>
          </a:xfrm>
          <a:prstGeom prst="rect">
            <a:avLst/>
          </a:prstGeom>
          <a:solidFill>
            <a:srgbClr val="FFFFFF"/>
          </a:solidFill>
          <a:ln w="9525">
            <a:solidFill>
              <a:srgbClr val="E2E8F0"/>
            </a:solidFill>
            <a:prstDash val="solid"/>
          </a:ln>
        </p:spPr>
      </p:sp>
      <p:sp>
        <p:nvSpPr>
          <p:cNvPr id="9" name="Shape 5"/>
          <p:cNvSpPr/>
          <p:nvPr/>
        </p:nvSpPr>
        <p:spPr>
          <a:xfrm>
            <a:off x="8046720" y="1371600"/>
            <a:ext cx="64008" cy="4754880"/>
          </a:xfrm>
          <a:prstGeom prst="rect">
            <a:avLst/>
          </a:prstGeom>
          <a:solidFill>
            <a:srgbClr val="0F9D9A"/>
          </a:solidFill>
          <a:ln w="12700">
            <a:solidFill>
              <a:srgbClr val="0F9D9A"/>
            </a:solidFill>
            <a:prstDash val="solid"/>
          </a:ln>
        </p:spPr>
      </p:sp>
      <p:sp>
        <p:nvSpPr>
          <p:cNvPr id="10" name="Text 6"/>
          <p:cNvSpPr txBox="1"/>
          <p:nvPr/>
        </p:nvSpPr>
        <p:spPr>
          <a:xfrm>
            <a:off x="8321040" y="1554480"/>
            <a:ext cx="31089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Key insights</a:t>
            </a:r>
            <a:endParaRPr lang="en-US" sz="1600" dirty="0"/>
          </a:p>
        </p:txBody>
      </p:sp>
      <p:sp>
        <p:nvSpPr>
          <p:cNvPr id="11" name="Text 7"/>
          <p:cNvSpPr txBox="1"/>
          <p:nvPr/>
        </p:nvSpPr>
        <p:spPr>
          <a:xfrm>
            <a:off x="8321040" y="2011680"/>
            <a:ext cx="3063240" cy="39319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Loan EMI ₹131.0M (28.7%) and Transfer ₹120.8M (26.5%) lead</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Top three types, including Deposit, are 70% of value</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Fees and tax follow value: fees are about 0.16% of amount for every type</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Fee Charge is the smallest at ₹1.7M, then Refund at ₹5.2M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Transaction status: 85% of value succeeds, but 15% fails or stays pending</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371600"/>
            <a:ext cx="7223760" cy="4754880"/>
          </a:xfrm>
          <a:prstGeom prst="rect">
            <a:avLst/>
          </a:prstGeom>
          <a:solidFill>
            <a:srgbClr val="FFFFFF"/>
          </a:solidFill>
          <a:ln w="9525">
            <a:solidFill>
              <a:srgbClr val="E2E8F0"/>
            </a:solidFill>
            <a:prstDash val="solid"/>
          </a:ln>
        </p:spPr>
      </p:sp>
      <p:graphicFrame>
        <p:nvGraphicFramePr>
          <p:cNvPr id="7" name="Chart 0" descr=""/>
          <p:cNvGraphicFramePr/>
          <p:nvPr/>
        </p:nvGraphicFramePr>
        <p:xfrm>
          <a:off x="685800" y="15087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046720" y="1371600"/>
            <a:ext cx="3566160" cy="4754880"/>
          </a:xfrm>
          <a:prstGeom prst="rect">
            <a:avLst/>
          </a:prstGeom>
          <a:solidFill>
            <a:srgbClr val="FFFFFF"/>
          </a:solidFill>
          <a:ln w="9525">
            <a:solidFill>
              <a:srgbClr val="E2E8F0"/>
            </a:solidFill>
            <a:prstDash val="solid"/>
          </a:ln>
        </p:spPr>
      </p:sp>
      <p:sp>
        <p:nvSpPr>
          <p:cNvPr id="9" name="Shape 5"/>
          <p:cNvSpPr/>
          <p:nvPr/>
        </p:nvSpPr>
        <p:spPr>
          <a:xfrm>
            <a:off x="8046720" y="1371600"/>
            <a:ext cx="64008" cy="4754880"/>
          </a:xfrm>
          <a:prstGeom prst="rect">
            <a:avLst/>
          </a:prstGeom>
          <a:solidFill>
            <a:srgbClr val="0F9D9A"/>
          </a:solidFill>
          <a:ln w="12700">
            <a:solidFill>
              <a:srgbClr val="0F9D9A"/>
            </a:solidFill>
            <a:prstDash val="solid"/>
          </a:ln>
        </p:spPr>
      </p:sp>
      <p:sp>
        <p:nvSpPr>
          <p:cNvPr id="10" name="Text 6"/>
          <p:cNvSpPr txBox="1"/>
          <p:nvPr/>
        </p:nvSpPr>
        <p:spPr>
          <a:xfrm>
            <a:off x="8321040" y="1554480"/>
            <a:ext cx="31089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Key insights</a:t>
            </a:r>
            <a:endParaRPr lang="en-US" sz="1600" dirty="0"/>
          </a:p>
        </p:txBody>
      </p:sp>
      <p:sp>
        <p:nvSpPr>
          <p:cNvPr id="11" name="Text 7"/>
          <p:cNvSpPr txBox="1"/>
          <p:nvPr/>
        </p:nvSpPr>
        <p:spPr>
          <a:xfrm>
            <a:off x="8321040" y="2011680"/>
            <a:ext cx="3063240" cy="39319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Success: ₹389.4M (85.4%) across 42,908 transactions</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Failed: ₹47.5M (10.4%) across 5,102 transactions</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Pending: ₹19.0M (4.2%) across 2,035 transactions</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Failure rate sits near 10% in every year and channel, which points to a process-level cause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Customers: Retail drives 54% of value and the gender split is almost even</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1371600"/>
            <a:ext cx="4114800" cy="4754880"/>
          </a:xfrm>
          <a:prstGeom prst="rect">
            <a:avLst/>
          </a:prstGeom>
          <a:solidFill>
            <a:srgbClr val="FFFFFF"/>
          </a:solidFill>
          <a:ln w="9525">
            <a:solidFill>
              <a:srgbClr val="E2E8F0"/>
            </a:solidFill>
            <a:prstDash val="solid"/>
          </a:ln>
        </p:spPr>
      </p:sp>
      <p:sp>
        <p:nvSpPr>
          <p:cNvPr id="7" name="Shape 4"/>
          <p:cNvSpPr/>
          <p:nvPr/>
        </p:nvSpPr>
        <p:spPr>
          <a:xfrm>
            <a:off x="4846320" y="1371600"/>
            <a:ext cx="3383280" cy="4754880"/>
          </a:xfrm>
          <a:prstGeom prst="rect">
            <a:avLst/>
          </a:prstGeom>
          <a:solidFill>
            <a:srgbClr val="FFFFFF"/>
          </a:solidFill>
          <a:ln w="9525">
            <a:solidFill>
              <a:srgbClr val="E2E8F0"/>
            </a:solidFill>
            <a:prstDash val="solid"/>
          </a:ln>
        </p:spPr>
      </p:sp>
      <p:graphicFrame>
        <p:nvGraphicFramePr>
          <p:cNvPr id="8" name="Chart 0" descr=""/>
          <p:cNvGraphicFramePr/>
          <p:nvPr/>
        </p:nvGraphicFramePr>
        <p:xfrm>
          <a:off x="640080" y="1463040"/>
          <a:ext cx="393192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4937760" y="1463040"/>
          <a:ext cx="3200400" cy="457200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8503920" y="1371600"/>
            <a:ext cx="3108960" cy="4754880"/>
          </a:xfrm>
          <a:prstGeom prst="rect">
            <a:avLst/>
          </a:prstGeom>
          <a:solidFill>
            <a:srgbClr val="FFFFFF"/>
          </a:solidFill>
          <a:ln w="9525">
            <a:solidFill>
              <a:srgbClr val="E2E8F0"/>
            </a:solidFill>
            <a:prstDash val="solid"/>
          </a:ln>
        </p:spPr>
      </p:sp>
      <p:sp>
        <p:nvSpPr>
          <p:cNvPr id="11" name="Shape 6"/>
          <p:cNvSpPr/>
          <p:nvPr/>
        </p:nvSpPr>
        <p:spPr>
          <a:xfrm>
            <a:off x="8503920" y="1371600"/>
            <a:ext cx="64008" cy="4754880"/>
          </a:xfrm>
          <a:prstGeom prst="rect">
            <a:avLst/>
          </a:prstGeom>
          <a:solidFill>
            <a:srgbClr val="0F9D9A"/>
          </a:solidFill>
          <a:ln w="12700">
            <a:solidFill>
              <a:srgbClr val="0F9D9A"/>
            </a:solidFill>
            <a:prstDash val="solid"/>
          </a:ln>
        </p:spPr>
      </p:sp>
      <p:sp>
        <p:nvSpPr>
          <p:cNvPr id="12" name="Text 7"/>
          <p:cNvSpPr txBox="1"/>
          <p:nvPr/>
        </p:nvSpPr>
        <p:spPr>
          <a:xfrm>
            <a:off x="8778240" y="1554480"/>
            <a:ext cx="26517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Key insights</a:t>
            </a:r>
            <a:endParaRPr lang="en-US" sz="1600" dirty="0"/>
          </a:p>
        </p:txBody>
      </p:sp>
      <p:sp>
        <p:nvSpPr>
          <p:cNvPr id="13" name="Text 8"/>
          <p:cNvSpPr txBox="1"/>
          <p:nvPr/>
        </p:nvSpPr>
        <p:spPr>
          <a:xfrm>
            <a:off x="8778240" y="2011680"/>
            <a:ext cx="2606040" cy="39319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Retail ₹248.2M (54.4%), then Premium ₹84.4M and SME ₹72.0M</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Retail is also 54% of customers (2,703 of 5,000), so value tracks headcount</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Female customers: ₹235.8M (51.7%); male: ₹220.1M (48.3%)</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Geography: three states account for 38% of transaction value</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548640" y="1371600"/>
            <a:ext cx="7223760" cy="4754880"/>
          </a:xfrm>
          <a:prstGeom prst="rect">
            <a:avLst/>
          </a:prstGeom>
          <a:solidFill>
            <a:srgbClr val="FFFFFF"/>
          </a:solidFill>
          <a:ln w="9525">
            <a:solidFill>
              <a:srgbClr val="E2E8F0"/>
            </a:solidFill>
            <a:prstDash val="solid"/>
          </a:ln>
        </p:spPr>
      </p:sp>
      <p:graphicFrame>
        <p:nvGraphicFramePr>
          <p:cNvPr id="7" name="Chart 0" descr=""/>
          <p:cNvGraphicFramePr/>
          <p:nvPr/>
        </p:nvGraphicFramePr>
        <p:xfrm>
          <a:off x="685800" y="15087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046720" y="1371600"/>
            <a:ext cx="3566160" cy="4754880"/>
          </a:xfrm>
          <a:prstGeom prst="rect">
            <a:avLst/>
          </a:prstGeom>
          <a:solidFill>
            <a:srgbClr val="FFFFFF"/>
          </a:solidFill>
          <a:ln w="9525">
            <a:solidFill>
              <a:srgbClr val="E2E8F0"/>
            </a:solidFill>
            <a:prstDash val="solid"/>
          </a:ln>
        </p:spPr>
      </p:sp>
      <p:sp>
        <p:nvSpPr>
          <p:cNvPr id="9" name="Shape 5"/>
          <p:cNvSpPr/>
          <p:nvPr/>
        </p:nvSpPr>
        <p:spPr>
          <a:xfrm>
            <a:off x="8046720" y="1371600"/>
            <a:ext cx="64008" cy="4754880"/>
          </a:xfrm>
          <a:prstGeom prst="rect">
            <a:avLst/>
          </a:prstGeom>
          <a:solidFill>
            <a:srgbClr val="0F9D9A"/>
          </a:solidFill>
          <a:ln w="12700">
            <a:solidFill>
              <a:srgbClr val="0F9D9A"/>
            </a:solidFill>
            <a:prstDash val="solid"/>
          </a:ln>
        </p:spPr>
      </p:sp>
      <p:sp>
        <p:nvSpPr>
          <p:cNvPr id="10" name="Text 6"/>
          <p:cNvSpPr txBox="1"/>
          <p:nvPr/>
        </p:nvSpPr>
        <p:spPr>
          <a:xfrm>
            <a:off x="8321040" y="1554480"/>
            <a:ext cx="31089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Key insights</a:t>
            </a:r>
            <a:endParaRPr lang="en-US" sz="1600" dirty="0"/>
          </a:p>
        </p:txBody>
      </p:sp>
      <p:sp>
        <p:nvSpPr>
          <p:cNvPr id="11" name="Text 7"/>
          <p:cNvSpPr txBox="1"/>
          <p:nvPr/>
        </p:nvSpPr>
        <p:spPr>
          <a:xfrm>
            <a:off x="8321040" y="2011680"/>
            <a:ext cx="3063240" cy="39319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Maharashtra leads with ₹68.3M (15.0%)</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Karnataka ₹52.9M and Gujarat ₹50.1M complete the top three</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Customers come from 13 states and 20 cities</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Smaller states such as Telangana (₹19.0M) are growth opportunities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Channels are evenly used; a high risk score is a strong fraud signal</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1371600"/>
            <a:ext cx="5669280" cy="4754880"/>
          </a:xfrm>
          <a:prstGeom prst="rect">
            <a:avLst/>
          </a:prstGeom>
          <a:solidFill>
            <a:srgbClr val="FFFFFF"/>
          </a:solidFill>
          <a:ln w="9525">
            <a:solidFill>
              <a:srgbClr val="E2E8F0"/>
            </a:solidFill>
            <a:prstDash val="solid"/>
          </a:ln>
        </p:spPr>
      </p:sp>
      <p:graphicFrame>
        <p:nvGraphicFramePr>
          <p:cNvPr id="7" name="Chart 0" descr=""/>
          <p:cNvGraphicFramePr/>
          <p:nvPr/>
        </p:nvGraphicFramePr>
        <p:xfrm>
          <a:off x="685800" y="1508760"/>
          <a:ext cx="5394960" cy="4480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6492240" y="1371600"/>
            <a:ext cx="2468880" cy="1691640"/>
          </a:xfrm>
          <a:prstGeom prst="rect">
            <a:avLst/>
          </a:prstGeom>
          <a:solidFill>
            <a:srgbClr val="FFFFFF"/>
          </a:solidFill>
          <a:ln w="9525">
            <a:solidFill>
              <a:srgbClr val="E2E8F0"/>
            </a:solidFill>
            <a:prstDash val="solid"/>
          </a:ln>
        </p:spPr>
      </p:sp>
      <p:sp>
        <p:nvSpPr>
          <p:cNvPr id="9" name="Text 5"/>
          <p:cNvSpPr txBox="1"/>
          <p:nvPr/>
        </p:nvSpPr>
        <p:spPr>
          <a:xfrm>
            <a:off x="6675120" y="1554480"/>
            <a:ext cx="2103120" cy="640080"/>
          </a:xfrm>
          <a:prstGeom prst="rect">
            <a:avLst/>
          </a:prstGeom>
          <a:noFill/>
          <a:ln/>
        </p:spPr>
        <p:txBody>
          <a:bodyPr wrap="square" lIns="0" tIns="0" rIns="0" bIns="0" rtlCol="0" anchor="ctr"/>
          <a:lstStyle/>
          <a:p>
            <a:pPr indent="0" marL="0">
              <a:buNone/>
            </a:pPr>
            <a:r>
              <a:rPr lang="en-US" sz="2800" b="1" dirty="0">
                <a:solidFill>
                  <a:srgbClr val="D1495B"/>
                </a:solidFill>
                <a:latin typeface="Calibri" pitchFamily="34" charset="0"/>
                <a:ea typeface="Calibri" pitchFamily="34" charset="-122"/>
                <a:cs typeface="Calibri" pitchFamily="34" charset="-120"/>
              </a:rPr>
              <a:t>632</a:t>
            </a:r>
            <a:endParaRPr lang="en-US" sz="2800" dirty="0"/>
          </a:p>
        </p:txBody>
      </p:sp>
      <p:sp>
        <p:nvSpPr>
          <p:cNvPr id="10" name="Text 6"/>
          <p:cNvSpPr txBox="1"/>
          <p:nvPr/>
        </p:nvSpPr>
        <p:spPr>
          <a:xfrm>
            <a:off x="6675120" y="2240280"/>
            <a:ext cx="210312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transactions flagged as fraud (1.3% of all)</a:t>
            </a:r>
            <a:endParaRPr lang="en-US" sz="1200" dirty="0"/>
          </a:p>
        </p:txBody>
      </p:sp>
      <p:sp>
        <p:nvSpPr>
          <p:cNvPr id="11" name="Shape 7"/>
          <p:cNvSpPr/>
          <p:nvPr/>
        </p:nvSpPr>
        <p:spPr>
          <a:xfrm>
            <a:off x="9144000" y="1371600"/>
            <a:ext cx="2468880" cy="1691640"/>
          </a:xfrm>
          <a:prstGeom prst="rect">
            <a:avLst/>
          </a:prstGeom>
          <a:solidFill>
            <a:srgbClr val="FFFFFF"/>
          </a:solidFill>
          <a:ln w="9525">
            <a:solidFill>
              <a:srgbClr val="E2E8F0"/>
            </a:solidFill>
            <a:prstDash val="solid"/>
          </a:ln>
        </p:spPr>
      </p:sp>
      <p:sp>
        <p:nvSpPr>
          <p:cNvPr id="12" name="Text 8"/>
          <p:cNvSpPr txBox="1"/>
          <p:nvPr/>
        </p:nvSpPr>
        <p:spPr>
          <a:xfrm>
            <a:off x="9326880" y="1554480"/>
            <a:ext cx="2103120" cy="640080"/>
          </a:xfrm>
          <a:prstGeom prst="rect">
            <a:avLst/>
          </a:prstGeom>
          <a:noFill/>
          <a:ln/>
        </p:spPr>
        <p:txBody>
          <a:bodyPr wrap="square" lIns="0" tIns="0" rIns="0" bIns="0" rtlCol="0" anchor="ctr"/>
          <a:lstStyle/>
          <a:p>
            <a:pPr indent="0" marL="0">
              <a:buNone/>
            </a:pPr>
            <a:r>
              <a:rPr lang="en-US" sz="2800" b="1" dirty="0">
                <a:solidFill>
                  <a:srgbClr val="D1495B"/>
                </a:solidFill>
                <a:latin typeface="Calibri" pitchFamily="34" charset="0"/>
                <a:ea typeface="Calibri" pitchFamily="34" charset="-122"/>
                <a:cs typeface="Calibri" pitchFamily="34" charset="-120"/>
              </a:rPr>
              <a:t>₹5.98M</a:t>
            </a:r>
            <a:endParaRPr lang="en-US" sz="2800" dirty="0"/>
          </a:p>
        </p:txBody>
      </p:sp>
      <p:sp>
        <p:nvSpPr>
          <p:cNvPr id="13" name="Text 9"/>
          <p:cNvSpPr txBox="1"/>
          <p:nvPr/>
        </p:nvSpPr>
        <p:spPr>
          <a:xfrm>
            <a:off x="9326880" y="2240280"/>
            <a:ext cx="210312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fraud value (1.3% of total amount)</a:t>
            </a:r>
            <a:endParaRPr lang="en-US" sz="1200" dirty="0"/>
          </a:p>
        </p:txBody>
      </p:sp>
      <p:sp>
        <p:nvSpPr>
          <p:cNvPr id="14" name="Shape 10"/>
          <p:cNvSpPr/>
          <p:nvPr/>
        </p:nvSpPr>
        <p:spPr>
          <a:xfrm>
            <a:off x="6492240" y="3200400"/>
            <a:ext cx="2468880" cy="1691640"/>
          </a:xfrm>
          <a:prstGeom prst="rect">
            <a:avLst/>
          </a:prstGeom>
          <a:solidFill>
            <a:srgbClr val="FFFFFF"/>
          </a:solidFill>
          <a:ln w="9525">
            <a:solidFill>
              <a:srgbClr val="E2E8F0"/>
            </a:solidFill>
            <a:prstDash val="solid"/>
          </a:ln>
        </p:spPr>
      </p:sp>
      <p:sp>
        <p:nvSpPr>
          <p:cNvPr id="15" name="Text 11"/>
          <p:cNvSpPr txBox="1"/>
          <p:nvPr/>
        </p:nvSpPr>
        <p:spPr>
          <a:xfrm>
            <a:off x="6675120" y="3383280"/>
            <a:ext cx="2103120" cy="640080"/>
          </a:xfrm>
          <a:prstGeom prst="rect">
            <a:avLst/>
          </a:prstGeom>
          <a:noFill/>
          <a:ln/>
        </p:spPr>
        <p:txBody>
          <a:bodyPr wrap="square" lIns="0" tIns="0" rIns="0" bIns="0" rtlCol="0" anchor="ctr"/>
          <a:lstStyle/>
          <a:p>
            <a:pPr indent="0" marL="0">
              <a:buNone/>
            </a:pPr>
            <a:r>
              <a:rPr lang="en-US" sz="2800" b="1" dirty="0">
                <a:solidFill>
                  <a:srgbClr val="F2A541"/>
                </a:solidFill>
                <a:latin typeface="Calibri" pitchFamily="34" charset="0"/>
                <a:ea typeface="Calibri" pitchFamily="34" charset="-122"/>
                <a:cs typeface="Calibri" pitchFamily="34" charset="-120"/>
              </a:rPr>
              <a:t>83 vs 35</a:t>
            </a:r>
            <a:endParaRPr lang="en-US" sz="2800" dirty="0"/>
          </a:p>
        </p:txBody>
      </p:sp>
      <p:sp>
        <p:nvSpPr>
          <p:cNvPr id="16" name="Text 12"/>
          <p:cNvSpPr txBox="1"/>
          <p:nvPr/>
        </p:nvSpPr>
        <p:spPr>
          <a:xfrm>
            <a:off x="6675120" y="4069080"/>
            <a:ext cx="210312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average risk score: fraud vs non-fraud</a:t>
            </a:r>
            <a:endParaRPr lang="en-US" sz="1200" dirty="0"/>
          </a:p>
        </p:txBody>
      </p:sp>
      <p:sp>
        <p:nvSpPr>
          <p:cNvPr id="17" name="Shape 13"/>
          <p:cNvSpPr/>
          <p:nvPr/>
        </p:nvSpPr>
        <p:spPr>
          <a:xfrm>
            <a:off x="9144000" y="3200400"/>
            <a:ext cx="2468880" cy="1691640"/>
          </a:xfrm>
          <a:prstGeom prst="rect">
            <a:avLst/>
          </a:prstGeom>
          <a:solidFill>
            <a:srgbClr val="FFFFFF"/>
          </a:solidFill>
          <a:ln w="9525">
            <a:solidFill>
              <a:srgbClr val="E2E8F0"/>
            </a:solidFill>
            <a:prstDash val="solid"/>
          </a:ln>
        </p:spPr>
      </p:sp>
      <p:sp>
        <p:nvSpPr>
          <p:cNvPr id="18" name="Text 14"/>
          <p:cNvSpPr txBox="1"/>
          <p:nvPr/>
        </p:nvSpPr>
        <p:spPr>
          <a:xfrm>
            <a:off x="9326880" y="3383280"/>
            <a:ext cx="2103120" cy="640080"/>
          </a:xfrm>
          <a:prstGeom prst="rect">
            <a:avLst/>
          </a:prstGeom>
          <a:noFill/>
          <a:ln/>
        </p:spPr>
        <p:txBody>
          <a:bodyPr wrap="square" lIns="0" tIns="0" rIns="0" bIns="0" rtlCol="0" anchor="ctr"/>
          <a:lstStyle/>
          <a:p>
            <a:pPr indent="0" marL="0">
              <a:buNone/>
            </a:pPr>
            <a:r>
              <a:rPr lang="en-US" sz="2800" b="1" dirty="0">
                <a:solidFill>
                  <a:srgbClr val="F2A541"/>
                </a:solidFill>
                <a:latin typeface="Calibri" pitchFamily="34" charset="0"/>
                <a:ea typeface="Calibri" pitchFamily="34" charset="-122"/>
                <a:cs typeface="Calibri" pitchFamily="34" charset="-120"/>
              </a:rPr>
              <a:t>379</a:t>
            </a:r>
            <a:endParaRPr lang="en-US" sz="2800" dirty="0"/>
          </a:p>
        </p:txBody>
      </p:sp>
      <p:sp>
        <p:nvSpPr>
          <p:cNvPr id="19" name="Text 15"/>
          <p:cNvSpPr txBox="1"/>
          <p:nvPr/>
        </p:nvSpPr>
        <p:spPr>
          <a:xfrm>
            <a:off x="9326880" y="4069080"/>
            <a:ext cx="210312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transactions with risk score 80+, all flagged as fraud</a:t>
            </a:r>
            <a:endParaRPr lang="en-US" sz="1200" dirty="0"/>
          </a:p>
        </p:txBody>
      </p:sp>
      <p:sp>
        <p:nvSpPr>
          <p:cNvPr id="20" name="Text 16"/>
          <p:cNvSpPr txBox="1"/>
          <p:nvPr/>
        </p:nvSpPr>
        <p:spPr>
          <a:xfrm>
            <a:off x="6492240" y="5120640"/>
            <a:ext cx="5120640" cy="9144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All seven channels carry ₹64–66M each (UPI highest at ₹66.1M). Fraud rate is 1.0–1.4% in every channel, so no single channel is the problem.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Conclusion: a steady business with clear levers for improvement</a:t>
            </a:r>
            <a:endParaRPr lang="en-US" sz="28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Finance Analysis  |  Power BI Project</a:t>
            </a:r>
            <a:endParaRPr lang="en-US" sz="1000" dirty="0"/>
          </a:p>
        </p:txBody>
      </p:sp>
      <p:sp>
        <p:nvSpPr>
          <p:cNvPr id="4" name="Text 2"/>
          <p:cNvSpPr txBox="1"/>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6" name="Shape 3"/>
          <p:cNvSpPr/>
          <p:nvPr/>
        </p:nvSpPr>
        <p:spPr>
          <a:xfrm>
            <a:off x="548640" y="1371600"/>
            <a:ext cx="5486400" cy="4754880"/>
          </a:xfrm>
          <a:prstGeom prst="rect">
            <a:avLst/>
          </a:prstGeom>
          <a:solidFill>
            <a:srgbClr val="FFFFFF"/>
          </a:solidFill>
          <a:ln w="9525">
            <a:solidFill>
              <a:srgbClr val="E2E8F0"/>
            </a:solidFill>
            <a:prstDash val="solid"/>
          </a:ln>
        </p:spPr>
      </p:sp>
      <p:sp>
        <p:nvSpPr>
          <p:cNvPr id="7" name="Text 4"/>
          <p:cNvSpPr txBox="1"/>
          <p:nvPr/>
        </p:nvSpPr>
        <p:spPr>
          <a:xfrm>
            <a:off x="822960" y="1554480"/>
            <a:ext cx="4937760" cy="36576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What the dashboard shows</a:t>
            </a:r>
            <a:endParaRPr lang="en-US" sz="1800" dirty="0"/>
          </a:p>
        </p:txBody>
      </p:sp>
      <p:sp>
        <p:nvSpPr>
          <p:cNvPr id="8" name="Text 5"/>
          <p:cNvSpPr txBox="1"/>
          <p:nvPr/>
        </p:nvSpPr>
        <p:spPr>
          <a:xfrm>
            <a:off x="822960" y="2103120"/>
            <a:ext cx="4983480" cy="38404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₹455.9M across 50,045 transactions; value is flat at about ₹136M a year</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2025 value +1.5% YoY, driven by a higher average ticket (+2.1%) rather than volume (−0.5%)</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Loan EMI and Transfers are 55% of value; Retail is 54%; three states are 38%</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14.6% of value fails or is pending, with a steady 10% failure rate</a:t>
            </a:r>
            <a:endParaRPr lang="en-US" sz="1400" dirty="0"/>
          </a:p>
          <a:p>
            <a:pPr marL="203200" indent="-2032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Fraud is rare (1.3%) but risk score separates it clearly</a:t>
            </a:r>
            <a:endParaRPr lang="en-US" sz="1400" dirty="0"/>
          </a:p>
        </p:txBody>
      </p:sp>
      <p:sp>
        <p:nvSpPr>
          <p:cNvPr id="9" name="Shape 6"/>
          <p:cNvSpPr/>
          <p:nvPr/>
        </p:nvSpPr>
        <p:spPr>
          <a:xfrm>
            <a:off x="6309360" y="1371600"/>
            <a:ext cx="5303520" cy="4754880"/>
          </a:xfrm>
          <a:prstGeom prst="rect">
            <a:avLst/>
          </a:prstGeom>
          <a:solidFill>
            <a:srgbClr val="0B2545"/>
          </a:solidFill>
          <a:ln w="9525">
            <a:solidFill>
              <a:srgbClr val="E2E8F0"/>
            </a:solidFill>
            <a:prstDash val="solid"/>
          </a:ln>
        </p:spPr>
      </p:sp>
      <p:sp>
        <p:nvSpPr>
          <p:cNvPr id="10" name="Text 7"/>
          <p:cNvSpPr txBox="1"/>
          <p:nvPr/>
        </p:nvSpPr>
        <p:spPr>
          <a:xfrm>
            <a:off x="6583680" y="1554480"/>
            <a:ext cx="4754880" cy="365760"/>
          </a:xfrm>
          <a:prstGeom prst="rect">
            <a:avLst/>
          </a:prstGeom>
          <a:noFill/>
          <a:ln/>
        </p:spPr>
        <p:txBody>
          <a:bodyPr wrap="square" lIns="0" tIns="0" rIns="0" bIns="0" rtlCol="0" anchor="ctr"/>
          <a:lstStyle/>
          <a:p>
            <a:pPr indent="0" marL="0">
              <a:buNone/>
            </a:pPr>
            <a:r>
              <a:rPr lang="en-US" sz="1800" b="1" dirty="0">
                <a:solidFill>
                  <a:srgbClr val="F2A541"/>
                </a:solidFill>
                <a:latin typeface="Calibri" pitchFamily="34" charset="0"/>
                <a:ea typeface="Calibri" pitchFamily="34" charset="-122"/>
                <a:cs typeface="Calibri" pitchFamily="34" charset="-120"/>
              </a:rPr>
              <a:t>Recommendations</a:t>
            </a:r>
            <a:endParaRPr lang="en-US" sz="1800" dirty="0"/>
          </a:p>
        </p:txBody>
      </p:sp>
      <p:sp>
        <p:nvSpPr>
          <p:cNvPr id="11" name="Text 8"/>
          <p:cNvSpPr txBox="1"/>
          <p:nvPr/>
        </p:nvSpPr>
        <p:spPr>
          <a:xfrm>
            <a:off x="6583680" y="2103120"/>
            <a:ext cx="4754880" cy="38404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Fix data quality: standardise channel labels, remove duplicate IDs, review negative amounts</a:t>
            </a:r>
            <a:endParaRPr lang="en-US" sz="1400" dirty="0"/>
          </a:p>
          <a:p>
            <a:pPr marL="203200" indent="-2032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Investigate failed and pending payments to recover up to ₹66M of value</a:t>
            </a:r>
            <a:endParaRPr lang="en-US" sz="1400" dirty="0"/>
          </a:p>
          <a:p>
            <a:pPr marL="203200" indent="-2032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Grow Premium, SME and Wealth, and states outside the top three</a:t>
            </a:r>
            <a:endParaRPr lang="en-US" sz="1400" dirty="0"/>
          </a:p>
          <a:p>
            <a:pPr marL="203200" indent="-2032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Add risk score and fraud rate visuals to the dashboard, with an alert at score 80+</a:t>
            </a:r>
            <a:endParaRPr lang="en-US" sz="1400" dirty="0"/>
          </a:p>
          <a:p>
            <a:pPr marL="203200" indent="-2032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Add a success-only value measure next to Total Amount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9D9A"/>
          </a:solidFill>
          <a:ln w="12700">
            <a:solidFill>
              <a:srgbClr val="0F9D9A"/>
            </a:solidFill>
            <a:prstDash val="solid"/>
          </a:ln>
        </p:spPr>
      </p:sp>
      <p:sp>
        <p:nvSpPr>
          <p:cNvPr id="3" name="Text 1"/>
          <p:cNvSpPr txBox="1"/>
          <p:nvPr/>
        </p:nvSpPr>
        <p:spPr>
          <a:xfrm>
            <a:off x="822960" y="2103120"/>
            <a:ext cx="10058400" cy="128016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4" name="Text 2"/>
          <p:cNvSpPr txBox="1"/>
          <p:nvPr/>
        </p:nvSpPr>
        <p:spPr>
          <a:xfrm>
            <a:off x="822960" y="3474720"/>
            <a:ext cx="10058400" cy="548640"/>
          </a:xfrm>
          <a:prstGeom prst="rect">
            <a:avLst/>
          </a:prstGeom>
          <a:noFill/>
          <a:ln/>
        </p:spPr>
        <p:txBody>
          <a:bodyPr wrap="square" lIns="0" tIns="0" rIns="0" bIns="0" rtlCol="0" anchor="ctr"/>
          <a:lstStyle/>
          <a:p>
            <a:pPr indent="0" marL="0">
              <a:buNone/>
            </a:pPr>
            <a:r>
              <a:rPr lang="en-US" sz="2200" dirty="0">
                <a:solidFill>
                  <a:srgbClr val="C9D6EA"/>
                </a:solidFill>
                <a:latin typeface="Calibri" pitchFamily="34" charset="0"/>
                <a:ea typeface="Calibri" pitchFamily="34" charset="-122"/>
                <a:cs typeface="Calibri" pitchFamily="34" charset="-120"/>
              </a:rPr>
              <a:t>Questions and feedback are welcome</a:t>
            </a:r>
            <a:endParaRPr lang="en-US" sz="2200" dirty="0"/>
          </a:p>
        </p:txBody>
      </p:sp>
      <p:sp>
        <p:nvSpPr>
          <p:cNvPr id="5" name="Text 3"/>
          <p:cNvSpPr txBox="1"/>
          <p:nvPr/>
        </p:nvSpPr>
        <p:spPr>
          <a:xfrm>
            <a:off x="822960" y="4937760"/>
            <a:ext cx="6400800" cy="73152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Sujay Purkait</a:t>
            </a:r>
            <a:endParaRPr lang="en-US" sz="1600" dirty="0"/>
          </a:p>
          <a:p>
            <a:pPr indent="0" marL="0">
              <a:spcAft>
                <a:spcPts val="400"/>
              </a:spcAft>
              <a:buNone/>
            </a:pPr>
            <a:r>
              <a:rPr lang="en-US" sz="1600" dirty="0">
                <a:solidFill>
                  <a:srgbClr val="C9D6EA"/>
                </a:solidFill>
                <a:latin typeface="Calibri" pitchFamily="34" charset="0"/>
                <a:ea typeface="Calibri" pitchFamily="34" charset="-122"/>
                <a:cs typeface="Calibri" pitchFamily="34" charset="-120"/>
              </a:rPr>
              <a:t>Student code – AF05252181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Transactions Analysis - Power BI Project</dc:title>
  <dc:subject>PptxGenJS Presentation</dc:subject>
  <dc:creator>PptxGenJS</dc:creator>
  <cp:lastModifiedBy>PptxGenJS</cp:lastModifiedBy>
  <cp:revision>1</cp:revision>
  <dcterms:created xsi:type="dcterms:W3CDTF">2026-10-01T08:06:00Z</dcterms:created>
  <dcterms:modified xsi:type="dcterms:W3CDTF">2026-10-01T08:06:00Z</dcterms:modified>
</cp:coreProperties>
</file>