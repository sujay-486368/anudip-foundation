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72"/>
  </p:notesMasterIdLst>
  <p:handoutMasterIdLst>
    <p:handoutMasterId r:id="rId73"/>
  </p:handoutMasterIdLst>
  <p:sldIdLst>
    <p:sldId id="256" r:id="rId5"/>
    <p:sldId id="262" r:id="rId6"/>
    <p:sldId id="267" r:id="rId7"/>
    <p:sldId id="263" r:id="rId8"/>
    <p:sldId id="268" r:id="rId9"/>
    <p:sldId id="269" r:id="rId10"/>
    <p:sldId id="259" r:id="rId11"/>
    <p:sldId id="266" r:id="rId12"/>
    <p:sldId id="270" r:id="rId13"/>
    <p:sldId id="271" r:id="rId14"/>
    <p:sldId id="264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3" r:id="rId35"/>
    <p:sldId id="291" r:id="rId36"/>
    <p:sldId id="292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260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Structured</a:t>
          </a:r>
          <a:endParaRPr lang="en-US" dirty="0"/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Unstructured</a:t>
          </a:r>
          <a:endParaRPr lang="en-US" dirty="0"/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Semi-structured</a:t>
          </a:r>
          <a:endParaRPr lang="en-US" dirty="0"/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/>
            <a:t>Structured</a:t>
          </a:r>
          <a:endParaRPr lang="en-US" sz="3500" kern="1200" dirty="0"/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/>
            <a:t>Unstructured</a:t>
          </a:r>
          <a:endParaRPr lang="en-US" sz="3500" kern="1200" dirty="0"/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 dirty="0"/>
            <a:t>Semi-structured</a:t>
          </a:r>
          <a:endParaRPr lang="en-US" sz="3500" kern="1200" dirty="0"/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39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77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92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-250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2520212" cy="895244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chemeClr val="bg1"/>
                </a:solidFill>
              </a:rPr>
              <a:t>Information Technology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7CEBFF"/>
                </a:solidFill>
              </a:rPr>
              <a:t>Sujay </a:t>
            </a:r>
            <a:r>
              <a:rPr lang="en-US" sz="2400" dirty="0" err="1">
                <a:solidFill>
                  <a:srgbClr val="7CEBFF"/>
                </a:solidFill>
              </a:rPr>
              <a:t>purkait</a:t>
            </a:r>
            <a:endParaRPr lang="en-US" sz="24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5BD0-C863-BB9E-2478-8987F746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Information Technology?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FF30D-0098-8A2D-4586-5B711A82C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71" y="1463742"/>
            <a:ext cx="11029615" cy="3678303"/>
          </a:xfrm>
        </p:spPr>
        <p:txBody>
          <a:bodyPr/>
          <a:lstStyle/>
          <a:p>
            <a:r>
              <a:rPr lang="en-IN" sz="2400" b="1" dirty="0"/>
              <a:t>Definition:</a:t>
            </a:r>
            <a:r>
              <a:rPr lang="en-IN" sz="2400" dirty="0"/>
              <a:t> The use of computers, storage, networking, and other physical devices, infrastructure, and processes to create, process, store, secure, and exchange all forms of electronic data.</a:t>
            </a:r>
          </a:p>
          <a:p>
            <a:r>
              <a:rPr lang="en-IN" sz="2400" b="1" dirty="0"/>
              <a:t>Types:</a:t>
            </a:r>
            <a:r>
              <a:rPr lang="en-IN" sz="2400" dirty="0"/>
              <a:t> Hardware, Software, Networks,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14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F2BC-26D6-06CC-6FAD-37AD7E51D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19" y="1170701"/>
            <a:ext cx="11029616" cy="566738"/>
          </a:xfrm>
        </p:spPr>
        <p:txBody>
          <a:bodyPr>
            <a:noAutofit/>
          </a:bodyPr>
          <a:lstStyle/>
          <a:p>
            <a:r>
              <a:rPr lang="en-IN" sz="2800" b="1" dirty="0"/>
              <a:t> The Role of IT in Business Operations :</a:t>
            </a:r>
            <a:br>
              <a:rPr lang="en-IN" sz="2800" b="1" dirty="0"/>
            </a:b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97F1-EDF1-16CC-6BAB-FF4DFFC5C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6419" y="2486947"/>
            <a:ext cx="11029617" cy="598671"/>
          </a:xfrm>
        </p:spPr>
        <p:txBody>
          <a:bodyPr>
            <a:noAutofit/>
          </a:bodyPr>
          <a:lstStyle/>
          <a:p>
            <a:r>
              <a:rPr lang="en-IN" sz="2400" dirty="0"/>
              <a:t>How does IT actually help a business run? It's not just about saving money on paper. It's about speed and accuracy. Think about a global supply chain; without IT, tracking a shipment from Shanghai to New York would be a nightmare of phone calls and spreadsheets. IT automates the mundane so humans can focus on strategy. It turns "waiting" into "instant."</a:t>
            </a:r>
          </a:p>
        </p:txBody>
      </p:sp>
    </p:spTree>
    <p:extLst>
      <p:ext uri="{BB962C8B-B14F-4D97-AF65-F5344CB8AC3E}">
        <p14:creationId xmlns:p14="http://schemas.microsoft.com/office/powerpoint/2010/main" val="405786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449F-4B42-BE2D-E5F8-8238E9A4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Overview of Business Systems (ERP &amp; CRM)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B4313-51E8-FF39-CE01-6A80D4459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506964"/>
            <a:ext cx="11395948" cy="3633047"/>
          </a:xfrm>
        </p:spPr>
        <p:txBody>
          <a:bodyPr/>
          <a:lstStyle/>
          <a:p>
            <a:r>
              <a:rPr lang="en-IN" sz="2400" b="1" dirty="0"/>
              <a:t>ERP (Enterprise Resource Planning):</a:t>
            </a:r>
            <a:r>
              <a:rPr lang="en-IN" sz="2400" dirty="0"/>
              <a:t> The central nervous system (Finance, HR, Supply Chain).</a:t>
            </a:r>
          </a:p>
          <a:p>
            <a:r>
              <a:rPr lang="en-IN" sz="2400" b="1" dirty="0"/>
              <a:t>CRM (Customer Relationship Management):</a:t>
            </a:r>
            <a:r>
              <a:rPr lang="en-IN" sz="2400" dirty="0"/>
              <a:t> The face of the business (Sales, Support, Marketing).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91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66D864-A181-B5A4-0EAE-96B40CA609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pPr marL="0" marR="0" indent="0">
              <a:spcBef>
                <a:spcPts val="1200"/>
              </a:spcBef>
              <a:buNone/>
            </a:pPr>
            <a:r>
              <a:rPr lang="en-IN" b="1" dirty="0">
                <a:effectLst/>
              </a:rPr>
              <a:t>The Interplay Between IT and Business Strategy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167E0-0AF9-785C-70FD-AE91B23B1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IN" cap="none"/>
              <a:t>The biggest mistake companies make is treating IT as an afterthought. True strategy means asking: "how can technology help us beat our competitors?" It's not about buying the newest software; it's about using technology to enter new markets or create new business models. IT and business strategy must dance together; if one leads and the other follows, the company falls.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B4D940-0A45-989F-10D6-FF0A8A4F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9" t="21522" r="13934" b="12410"/>
          <a:stretch>
            <a:fillRect/>
          </a:stretch>
        </p:blipFill>
        <p:spPr>
          <a:xfrm>
            <a:off x="6591299" y="3009900"/>
            <a:ext cx="5019509" cy="2400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681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27E0-62C7-CD64-C4C0-A8344F4C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56842"/>
            <a:ext cx="11029616" cy="1013800"/>
          </a:xfrm>
        </p:spPr>
        <p:txBody>
          <a:bodyPr/>
          <a:lstStyle/>
          <a:p>
            <a:r>
              <a:rPr lang="en-IN" b="1" dirty="0"/>
              <a:t>Recap &amp; Discussion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AC3FB-6EC2-9A85-2753-799DBBBD2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63742"/>
            <a:ext cx="11029615" cy="3678303"/>
          </a:xfrm>
        </p:spPr>
        <p:txBody>
          <a:bodyPr/>
          <a:lstStyle/>
          <a:p>
            <a:r>
              <a:rPr lang="en-IN" sz="2400" dirty="0"/>
              <a:t>IT is the foundation of modern operations.</a:t>
            </a:r>
          </a:p>
          <a:p>
            <a:r>
              <a:rPr lang="en-IN" sz="2400" dirty="0"/>
              <a:t>Systems like ERP/CRM are critical.</a:t>
            </a:r>
          </a:p>
          <a:p>
            <a:r>
              <a:rPr lang="en-IN" sz="2400" dirty="0"/>
              <a:t>Alignment is key to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67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/>
              <a:t>Understanding Different Data Types</a:t>
            </a:r>
            <a:endParaRPr lang="en-US" b="1" dirty="0"/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025930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6C26-A3E1-B60C-B991-71F37409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8356"/>
            <a:ext cx="11029616" cy="1013800"/>
          </a:xfrm>
        </p:spPr>
        <p:txBody>
          <a:bodyPr/>
          <a:lstStyle/>
          <a:p>
            <a:r>
              <a:rPr lang="en-IN" b="1" dirty="0"/>
              <a:t>Structured Data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108FCB-3FA4-BFEA-8C71-3DC555D5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5585"/>
            <a:ext cx="11029615" cy="3678303"/>
          </a:xfrm>
        </p:spPr>
        <p:txBody>
          <a:bodyPr/>
          <a:lstStyle/>
          <a:p>
            <a:r>
              <a:rPr lang="en-IN" sz="2400" b="1" dirty="0"/>
              <a:t>Definition:</a:t>
            </a:r>
            <a:r>
              <a:rPr lang="en-IN" sz="2400" dirty="0"/>
              <a:t> Highly organized data that fits neatly into fixed relational tables.</a:t>
            </a:r>
          </a:p>
          <a:p>
            <a:r>
              <a:rPr lang="en-IN" sz="2400" b="1" dirty="0"/>
              <a:t>Format:</a:t>
            </a:r>
            <a:r>
              <a:rPr lang="en-IN" sz="2400" dirty="0"/>
              <a:t> Rows and columns with predefined data types (e.g., Text, Dates, Integers).</a:t>
            </a:r>
          </a:p>
          <a:p>
            <a:r>
              <a:rPr lang="en-IN" sz="2400" b="1" dirty="0"/>
              <a:t>Technologies:</a:t>
            </a:r>
            <a:r>
              <a:rPr lang="en-IN" sz="2400" dirty="0"/>
              <a:t> SQL databases, Microsoft Excel, PostgreSQL.</a:t>
            </a:r>
          </a:p>
          <a:p>
            <a:r>
              <a:rPr lang="en-IN" sz="2400" b="1" dirty="0"/>
              <a:t>Business Example:</a:t>
            </a:r>
            <a:r>
              <a:rPr lang="en-IN" sz="2400" dirty="0"/>
              <a:t> Customer transaction histories, inventory counts, employee IDs</a:t>
            </a:r>
            <a:r>
              <a:rPr lang="en-IN" dirty="0"/>
              <a:t>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41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6C9A-AD1D-C4B4-354B-4C68B3A1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71956"/>
            <a:ext cx="11029616" cy="1013800"/>
          </a:xfrm>
        </p:spPr>
        <p:txBody>
          <a:bodyPr/>
          <a:lstStyle/>
          <a:p>
            <a:r>
              <a:rPr lang="en-IN" b="1" dirty="0"/>
              <a:t>Unstructured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5176C-A1CE-47C2-BF2B-AB0F73E2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Definition:</a:t>
            </a:r>
            <a:r>
              <a:rPr lang="en-IN" sz="2400" dirty="0"/>
              <a:t> Data that lacks a predefined conceptual framework or data model.</a:t>
            </a:r>
          </a:p>
          <a:p>
            <a:r>
              <a:rPr lang="en-IN" sz="2400" b="1" dirty="0"/>
              <a:t>Volume:</a:t>
            </a:r>
            <a:r>
              <a:rPr lang="en-IN" sz="2400" dirty="0"/>
              <a:t> Comprises roughly 80% to 90% of all newly generated enterprise data.</a:t>
            </a:r>
          </a:p>
          <a:p>
            <a:r>
              <a:rPr lang="en-IN" sz="2400" b="1" dirty="0"/>
              <a:t>Technologies:</a:t>
            </a:r>
            <a:r>
              <a:rPr lang="en-IN" sz="2400" dirty="0"/>
              <a:t> NoSQL databases, Data Lakes (e.g., AWS S3, Azure Blob Storage).</a:t>
            </a:r>
          </a:p>
          <a:p>
            <a:r>
              <a:rPr lang="en-IN" sz="2400" b="1" dirty="0"/>
              <a:t>Business Example:</a:t>
            </a:r>
            <a:r>
              <a:rPr lang="en-IN" sz="2400" dirty="0"/>
              <a:t> Customer service call recordings, PDF contracts, marketing videos.</a:t>
            </a:r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05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5018-DD57-CFD5-FFCF-0AACBCF0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52601"/>
            <a:ext cx="11029616" cy="1013800"/>
          </a:xfrm>
        </p:spPr>
        <p:txBody>
          <a:bodyPr/>
          <a:lstStyle/>
          <a:p>
            <a:r>
              <a:rPr lang="en-IN" b="1" dirty="0"/>
              <a:t>Semi-Structured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BEB8-C61C-E9E2-2606-FF9F34E98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Definition:</a:t>
            </a:r>
            <a:r>
              <a:rPr lang="en-IN" sz="2400" dirty="0"/>
              <a:t> Data with organizational markers but no rigid, relational schema.</a:t>
            </a:r>
          </a:p>
          <a:p>
            <a:r>
              <a:rPr lang="en-IN" sz="2400" b="1" dirty="0"/>
              <a:t>Self-Describing:</a:t>
            </a:r>
            <a:r>
              <a:rPr lang="en-IN" sz="2400" dirty="0"/>
              <a:t> Uses tags or hierarchies to separate data elements.</a:t>
            </a:r>
          </a:p>
          <a:p>
            <a:r>
              <a:rPr lang="en-IN" sz="2400" b="1" dirty="0"/>
              <a:t>Technologies:</a:t>
            </a:r>
            <a:r>
              <a:rPr lang="en-IN" sz="2400" dirty="0"/>
              <a:t> NoSQL databases (e.g., MongoDB), web-based data protocols.</a:t>
            </a:r>
          </a:p>
          <a:p>
            <a:r>
              <a:rPr lang="en-IN" sz="2400" b="1" dirty="0"/>
              <a:t>Business Example:</a:t>
            </a:r>
            <a:r>
              <a:rPr lang="en-IN" sz="2400" dirty="0"/>
              <a:t> JSON logs, XML files, email messages (metadata + unstructured body).</a:t>
            </a:r>
          </a:p>
          <a:p>
            <a:pPr marL="0" indent="0">
              <a:buNone/>
            </a:pPr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2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0B90D4-09B4-1181-9C80-3BA6C54F1B55}"/>
              </a:ext>
            </a:extLst>
          </p:cNvPr>
          <p:cNvSpPr txBox="1"/>
          <p:nvPr/>
        </p:nvSpPr>
        <p:spPr>
          <a:xfrm>
            <a:off x="6374568" y="5616037"/>
            <a:ext cx="6093500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1200"/>
              </a:spcBef>
            </a:pPr>
            <a:r>
              <a:rPr lang="en-IN" sz="2800" b="1" dirty="0">
                <a:solidFill>
                  <a:srgbClr val="1B1B1F"/>
                </a:solidFill>
                <a:effectLst/>
                <a:latin typeface="system-ui"/>
              </a:rPr>
              <a:t> 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3B5393C-0DC0-7B46-FBB9-DE5D1E6F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72853"/>
            <a:ext cx="11029616" cy="988332"/>
          </a:xfrm>
        </p:spPr>
        <p:txBody>
          <a:bodyPr/>
          <a:lstStyle/>
          <a:p>
            <a:r>
              <a:rPr lang="en-IN" b="1" dirty="0"/>
              <a:t>Common Data Sources</a:t>
            </a:r>
            <a:br>
              <a:rPr lang="en-IN" b="1" dirty="0"/>
            </a:br>
            <a:endParaRPr lang="en-IN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A1371C8-7813-BD13-5DC9-C2212C076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116583"/>
            <a:ext cx="9192393" cy="4134315"/>
          </a:xfrm>
        </p:spPr>
        <p:txBody>
          <a:bodyPr>
            <a:normAutofit/>
          </a:bodyPr>
          <a:lstStyle/>
          <a:p>
            <a:r>
              <a:rPr lang="en-IN" sz="2400" b="1" dirty="0"/>
              <a:t>Internal:</a:t>
            </a:r>
            <a:r>
              <a:rPr lang="en-IN" sz="2400" dirty="0"/>
              <a:t> Transaction logs, HR records, internal reports.</a:t>
            </a:r>
          </a:p>
          <a:p>
            <a:r>
              <a:rPr lang="en-IN" sz="2400" b="1" dirty="0"/>
              <a:t>External:</a:t>
            </a:r>
            <a:r>
              <a:rPr lang="en-IN" sz="2400" dirty="0"/>
              <a:t> Market research, social media, government stats.</a:t>
            </a:r>
          </a:p>
          <a:p>
            <a:r>
              <a:rPr lang="en-IN" sz="2400" b="1" dirty="0"/>
              <a:t>APIs:</a:t>
            </a:r>
            <a:r>
              <a:rPr lang="en-IN" sz="2400" dirty="0"/>
              <a:t> Connecting different software applications.</a:t>
            </a:r>
          </a:p>
          <a:p>
            <a:r>
              <a:rPr lang="en-IN" sz="2400" b="1" dirty="0"/>
              <a:t>Databases:</a:t>
            </a:r>
            <a:r>
              <a:rPr lang="en-IN" sz="2400" dirty="0"/>
              <a:t> The storage vaults.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678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FE3D-C288-2B89-EF90-6F54F8F1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Databases vs. 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B9CDA-087C-EBFA-51AA-8AE22DC1B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5309771"/>
            <a:ext cx="15017345" cy="536005"/>
          </a:xfrm>
        </p:spPr>
        <p:txBody>
          <a:bodyPr/>
          <a:lstStyle/>
          <a:p>
            <a:r>
              <a:rPr lang="en-IN" b="1" i="1" dirty="0"/>
              <a:t>Static Storage vs. Real-Time Pipelines :</a:t>
            </a:r>
          </a:p>
          <a:p>
            <a:r>
              <a:rPr lang="en-IN" b="1" dirty="0">
                <a:solidFill>
                  <a:schemeClr val="tx1"/>
                </a:solidFill>
              </a:rPr>
              <a:t>Databases:</a:t>
            </a:r>
            <a:r>
              <a:rPr lang="en-IN" dirty="0">
                <a:solidFill>
                  <a:schemeClr val="tx1"/>
                </a:solidFill>
              </a:rPr>
              <a:t> Persistent, internal storage engines holding historical records.</a:t>
            </a:r>
          </a:p>
          <a:p>
            <a:r>
              <a:rPr lang="en-IN" b="1" dirty="0">
                <a:solidFill>
                  <a:schemeClr val="tx1"/>
                </a:solidFill>
              </a:rPr>
              <a:t>Database Function:</a:t>
            </a:r>
            <a:r>
              <a:rPr lang="en-IN" dirty="0">
                <a:solidFill>
                  <a:schemeClr val="tx1"/>
                </a:solidFill>
              </a:rPr>
              <a:t> Batch processing and deep historical querying.</a:t>
            </a:r>
          </a:p>
          <a:p>
            <a:r>
              <a:rPr lang="en-IN" b="1" dirty="0">
                <a:solidFill>
                  <a:schemeClr val="tx1"/>
                </a:solidFill>
              </a:rPr>
              <a:t>APIs (Application Programming Interfaces):</a:t>
            </a:r>
            <a:r>
              <a:rPr lang="en-IN" dirty="0">
                <a:solidFill>
                  <a:schemeClr val="tx1"/>
                </a:solidFill>
              </a:rPr>
              <a:t> Live software-to-software pipelines.</a:t>
            </a:r>
          </a:p>
          <a:p>
            <a:r>
              <a:rPr lang="en-IN" b="1" dirty="0">
                <a:solidFill>
                  <a:schemeClr val="tx1"/>
                </a:solidFill>
              </a:rPr>
              <a:t>API Function:</a:t>
            </a:r>
            <a:r>
              <a:rPr lang="en-IN" dirty="0">
                <a:solidFill>
                  <a:schemeClr val="tx1"/>
                </a:solidFill>
              </a:rPr>
              <a:t> Real-time data streaming (e.g., fetching live currency conversion rates).</a:t>
            </a:r>
          </a:p>
          <a:p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439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D1C2-849E-0099-EC5F-047DA31E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Passive Sensing vs. Active Engagement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77B18-1268-D732-1181-189040CF3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472" y="2428408"/>
            <a:ext cx="11231055" cy="3012920"/>
          </a:xfrm>
        </p:spPr>
        <p:txBody>
          <a:bodyPr>
            <a:normAutofit fontScale="92500"/>
          </a:bodyPr>
          <a:lstStyle/>
          <a:p>
            <a:r>
              <a:rPr lang="en-IN" sz="2600" b="1" dirty="0"/>
              <a:t>Passive Sensing:</a:t>
            </a:r>
            <a:r>
              <a:rPr lang="en-IN" sz="2600" dirty="0"/>
              <a:t> Continuous, automated collection requiring minimal user effort.</a:t>
            </a:r>
          </a:p>
          <a:p>
            <a:r>
              <a:rPr lang="en-IN" sz="2600" b="1" dirty="0"/>
              <a:t>Passive Examples:</a:t>
            </a:r>
            <a:r>
              <a:rPr lang="en-IN" sz="2600" dirty="0"/>
              <a:t> IoT sensor networks, website cookies, GPS tracking logs.</a:t>
            </a:r>
          </a:p>
          <a:p>
            <a:r>
              <a:rPr lang="en-IN" sz="2600" b="1" dirty="0"/>
              <a:t>Active Engagement:</a:t>
            </a:r>
            <a:r>
              <a:rPr lang="en-IN" sz="2600" dirty="0"/>
              <a:t> Targeted information gathering reliant on direct human input.</a:t>
            </a:r>
          </a:p>
          <a:p>
            <a:r>
              <a:rPr lang="en-IN" sz="2600" b="1" dirty="0"/>
              <a:t>Active Examples:</a:t>
            </a:r>
            <a:r>
              <a:rPr lang="en-IN" sz="2600" dirty="0"/>
              <a:t> Customer feedback surveys, manual forms, focus group interviews.</a:t>
            </a:r>
          </a:p>
          <a:p>
            <a:pPr marL="0" indent="0">
              <a:buNone/>
            </a:pP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8741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9C10-3062-0B62-AB11-94BDAAAA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IN" b="1"/>
              <a:t>Data Lifecycle Management (DLM):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5EF67-6034-46A2-89D9-396A7EF9D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The 5 Stages of Data Architecture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5" name="Picture 4" descr="5 Stages of Data Processing Service">
            <a:extLst>
              <a:ext uri="{FF2B5EF4-FFF2-40B4-BE49-F238E27FC236}">
                <a16:creationId xmlns:a16="http://schemas.microsoft.com/office/drawing/2014/main" id="{0B6F680B-0B55-3745-2493-90867272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7" t="17479" r="54294"/>
          <a:stretch>
            <a:fillRect/>
          </a:stretch>
        </p:blipFill>
        <p:spPr>
          <a:xfrm>
            <a:off x="6530643" y="2228002"/>
            <a:ext cx="2578939" cy="36330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1603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58A5-70F6-664C-61BE-1692F264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22756"/>
            <a:ext cx="11029616" cy="1013800"/>
          </a:xfrm>
        </p:spPr>
        <p:txBody>
          <a:bodyPr/>
          <a:lstStyle/>
          <a:p>
            <a:r>
              <a:rPr lang="en-IN" b="1" dirty="0"/>
              <a:t>Stage 1 &amp; Stage 2: Creation and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A6798-E741-9255-5BAE-AF3AAC9A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60575"/>
            <a:ext cx="11029615" cy="3678303"/>
          </a:xfrm>
        </p:spPr>
        <p:txBody>
          <a:bodyPr/>
          <a:lstStyle/>
          <a:p>
            <a:r>
              <a:rPr lang="en-IN" sz="2400" b="1" dirty="0"/>
              <a:t>1. Creation:</a:t>
            </a:r>
            <a:r>
              <a:rPr lang="en-IN" sz="2400" dirty="0"/>
              <a:t> The initial entry point via manual input, sensing, or buying.</a:t>
            </a:r>
          </a:p>
          <a:p>
            <a:r>
              <a:rPr lang="en-IN" sz="2400" b="1" dirty="0"/>
              <a:t>Creation Risk:</a:t>
            </a:r>
            <a:r>
              <a:rPr lang="en-IN" sz="2400" dirty="0"/>
              <a:t> Input errors at this phase corrupt all later lifecycle steps.</a:t>
            </a:r>
          </a:p>
          <a:p>
            <a:r>
              <a:rPr lang="en-IN" sz="2400" b="1" dirty="0"/>
              <a:t>2. Storage:</a:t>
            </a:r>
            <a:r>
              <a:rPr lang="en-IN" sz="2400" dirty="0"/>
              <a:t> Depositing raw or processed info into secure digital architectures.</a:t>
            </a:r>
          </a:p>
          <a:p>
            <a:r>
              <a:rPr lang="en-IN" sz="2400" b="1" dirty="0"/>
              <a:t>Storage Focus:</a:t>
            </a:r>
            <a:r>
              <a:rPr lang="en-IN" sz="2400" dirty="0"/>
              <a:t> Implementing access permissions, encryption, and redundancy backups.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605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7869-D1C1-96A8-D571-7E830C73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/>
          <a:lstStyle/>
          <a:p>
            <a:r>
              <a:rPr lang="en-IN" b="1" dirty="0"/>
              <a:t>Stage 3 &amp; Stage 4: Usage and Archiving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0BEA-C402-6524-979B-349D1D2E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3. Usage:</a:t>
            </a:r>
            <a:r>
              <a:rPr lang="en-IN" sz="2400" dirty="0"/>
              <a:t> Accessing information to power applications, reports, and algorithms.</a:t>
            </a:r>
          </a:p>
          <a:p>
            <a:r>
              <a:rPr lang="en-IN" sz="2400" b="1" dirty="0"/>
              <a:t>Usage Focus:</a:t>
            </a:r>
            <a:r>
              <a:rPr lang="en-IN" sz="2400" dirty="0"/>
              <a:t> Preventing data leaks while optimizing performance for business analysts.</a:t>
            </a:r>
          </a:p>
          <a:p>
            <a:r>
              <a:rPr lang="en-IN" sz="2400" b="1" dirty="0"/>
              <a:t>4. Archiving:</a:t>
            </a:r>
            <a:r>
              <a:rPr lang="en-IN" sz="2400" dirty="0"/>
              <a:t> Moving inactive data out of expensive primary storage pools.</a:t>
            </a:r>
          </a:p>
          <a:p>
            <a:r>
              <a:rPr lang="en-IN" sz="2400" b="1" dirty="0"/>
              <a:t>Archiving Focus:</a:t>
            </a:r>
            <a:r>
              <a:rPr lang="en-IN" sz="2400" dirty="0"/>
              <a:t> Retaining historical records in cheap cold storage for legal audit trails.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788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B3E3-69CA-BFE7-DDE0-77EE6AE2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/>
          <a:lstStyle/>
          <a:p>
            <a:r>
              <a:rPr lang="en-IN" b="1" dirty="0"/>
              <a:t>Stage 5: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E8F9-EBC7-F487-3F4C-31CA33538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5. Deletion:</a:t>
            </a:r>
            <a:r>
              <a:rPr lang="en-IN" sz="2400" dirty="0"/>
              <a:t> Programmatically destroying information when it hits expiration limits.</a:t>
            </a:r>
          </a:p>
          <a:p>
            <a:r>
              <a:rPr lang="en-IN" sz="2400" b="1" dirty="0"/>
              <a:t>Compliance Mandate:</a:t>
            </a:r>
            <a:r>
              <a:rPr lang="en-IN" sz="2400" dirty="0"/>
              <a:t> Required by modern laws (e.g., GDPR's "Right to be Forgotten").</a:t>
            </a:r>
          </a:p>
          <a:p>
            <a:r>
              <a:rPr lang="en-IN" sz="2400" b="1" dirty="0"/>
              <a:t>Execution Rule:</a:t>
            </a:r>
            <a:r>
              <a:rPr lang="en-IN" sz="2400" dirty="0"/>
              <a:t> Overwriting storage sectors so records cannot be recovered by hackers.</a:t>
            </a:r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55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75BB-6E34-C01E-A82A-AF0DFC07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86256"/>
            <a:ext cx="11029616" cy="1013800"/>
          </a:xfrm>
        </p:spPr>
        <p:txBody>
          <a:bodyPr/>
          <a:lstStyle/>
          <a:p>
            <a:r>
              <a:rPr lang="en-IN" b="1" dirty="0"/>
              <a:t>Data Quality and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03D-C095-096F-F986-17AB5A6E9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2" y="1832042"/>
            <a:ext cx="11029615" cy="3678303"/>
          </a:xfrm>
        </p:spPr>
        <p:txBody>
          <a:bodyPr/>
          <a:lstStyle/>
          <a:p>
            <a:r>
              <a:rPr lang="en-IN" sz="2400" b="1" dirty="0"/>
              <a:t>Business Hazard:</a:t>
            </a:r>
            <a:r>
              <a:rPr lang="en-IN" sz="2400" dirty="0"/>
              <a:t> Bad data leads to bad choices ("Garbage In, Garbage Out").</a:t>
            </a:r>
          </a:p>
          <a:p>
            <a:r>
              <a:rPr lang="en-IN" sz="2400" b="1" dirty="0"/>
              <a:t>Financial Drag:</a:t>
            </a:r>
            <a:r>
              <a:rPr lang="en-IN" sz="2400" dirty="0"/>
              <a:t> Poor data quality costs companies billions annually in wasted operations.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17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A52D-8FBC-C5B6-71F4-4CC7C465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8356"/>
            <a:ext cx="11029616" cy="1013800"/>
          </a:xfrm>
        </p:spPr>
        <p:txBody>
          <a:bodyPr/>
          <a:lstStyle/>
          <a:p>
            <a:r>
              <a:rPr lang="en-IN" b="1" dirty="0"/>
              <a:t>The Three Pillars: Accuracy, Completeness,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F5932-F8C1-71CF-6758-9F6263E7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200343"/>
            <a:ext cx="10328108" cy="2651058"/>
          </a:xfrm>
        </p:spPr>
        <p:txBody>
          <a:bodyPr/>
          <a:lstStyle/>
          <a:p>
            <a:r>
              <a:rPr lang="en-IN" sz="2400" b="1" dirty="0"/>
              <a:t>Accuracy:</a:t>
            </a:r>
            <a:r>
              <a:rPr lang="en-IN" sz="2400" dirty="0"/>
              <a:t> Does the recorded digital value match the physical reality?</a:t>
            </a:r>
          </a:p>
          <a:p>
            <a:r>
              <a:rPr lang="en-IN" sz="2400" b="1" dirty="0"/>
              <a:t>Completeness:</a:t>
            </a:r>
            <a:r>
              <a:rPr lang="en-IN" sz="2400" dirty="0"/>
              <a:t> Are all critical, required fields filled out within the system?</a:t>
            </a:r>
          </a:p>
          <a:p>
            <a:r>
              <a:rPr lang="en-IN" sz="2400" b="1" dirty="0"/>
              <a:t>Consistency:</a:t>
            </a:r>
            <a:r>
              <a:rPr lang="en-IN" sz="2400" dirty="0"/>
              <a:t> Do records matching across separate regional databases show the identical value?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535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4FF9-E3D9-7E9B-3090-76B19BCC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89496"/>
            <a:ext cx="11029616" cy="1013800"/>
          </a:xfrm>
        </p:spPr>
        <p:txBody>
          <a:bodyPr/>
          <a:lstStyle/>
          <a:p>
            <a:r>
              <a:rPr lang="en-IN" b="1" dirty="0"/>
              <a:t>Data Integrity and Validation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8F000-F9FD-47BB-0150-A28884A83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89848"/>
            <a:ext cx="11029615" cy="3678303"/>
          </a:xfrm>
        </p:spPr>
        <p:txBody>
          <a:bodyPr/>
          <a:lstStyle/>
          <a:p>
            <a:r>
              <a:rPr lang="en-IN" sz="2400" b="1" dirty="0"/>
              <a:t>Data Integrity:</a:t>
            </a:r>
            <a:r>
              <a:rPr lang="en-IN" sz="2400" dirty="0"/>
              <a:t> Ensuring information remains unaltered during storage or transfer.</a:t>
            </a:r>
          </a:p>
          <a:p>
            <a:r>
              <a:rPr lang="en-IN" sz="2400" b="1" dirty="0"/>
              <a:t>Input Validation:</a:t>
            </a:r>
            <a:r>
              <a:rPr lang="en-IN" sz="2400" dirty="0"/>
              <a:t> Restricting what users can type into a data field (e.g., letters only).</a:t>
            </a:r>
          </a:p>
          <a:p>
            <a:r>
              <a:rPr lang="en-IN" sz="2400" b="1" dirty="0"/>
              <a:t>Referential Integrity:</a:t>
            </a:r>
            <a:r>
              <a:rPr lang="en-IN" sz="2400" dirty="0"/>
              <a:t> Ensuring relational database links remain unbroken across tables.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899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0B07-6A94-5B72-1B72-10F8D02F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Recap &amp; Discussion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70CDA-9979-960C-8530-4BE48F13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300" y="1835722"/>
            <a:ext cx="11029615" cy="3678303"/>
          </a:xfrm>
        </p:spPr>
        <p:txBody>
          <a:bodyPr/>
          <a:lstStyle/>
          <a:p>
            <a:pPr marL="0" lvl="0" indent="0">
              <a:buNone/>
            </a:pPr>
            <a:endParaRPr lang="en-IN" dirty="0"/>
          </a:p>
          <a:p>
            <a:pPr lvl="1"/>
            <a:r>
              <a:rPr lang="en-IN" sz="2400" dirty="0"/>
              <a:t>BA is the bridge between business and tech.</a:t>
            </a:r>
          </a:p>
          <a:p>
            <a:pPr lvl="1"/>
            <a:r>
              <a:rPr lang="en-IN" sz="2400" dirty="0"/>
              <a:t>Soft skills (communication) are as important as hard skills.</a:t>
            </a:r>
          </a:p>
          <a:p>
            <a:pPr lvl="1"/>
            <a:r>
              <a:rPr lang="en-IN" sz="2400" dirty="0"/>
              <a:t>Methodologies (Agile vs. Waterfall) dictate workflow.</a:t>
            </a:r>
          </a:p>
          <a:p>
            <a:pPr lvl="1"/>
            <a:r>
              <a:rPr lang="en-IN" sz="2400" dirty="0"/>
              <a:t>Stakeholder management is critical for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35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72E0-F096-7F98-CDC6-42C8F331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93" y="822077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Distinguishing Raw Data from Processed Information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A836A-19C5-5D17-C92B-AAC1BB9EF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49" y="2357620"/>
            <a:ext cx="11029615" cy="3678303"/>
          </a:xfrm>
        </p:spPr>
        <p:txBody>
          <a:bodyPr>
            <a:normAutofit/>
          </a:bodyPr>
          <a:lstStyle/>
          <a:p>
            <a:r>
              <a:rPr lang="en-IN" sz="2400" dirty="0"/>
              <a:t>Let's clear up a common confusion. Data is just raw material. "38" is just a number. But "38 degrees Celsius" is information. And "Patient A has a fever of 38 degrees" is knowledge. Data becomes information when you add context. Without context, data is noise.</a:t>
            </a:r>
          </a:p>
          <a:p>
            <a:pPr lvl="0"/>
            <a:r>
              <a:rPr lang="en-IN" sz="2400" b="1" dirty="0"/>
              <a:t>Data:</a:t>
            </a:r>
            <a:r>
              <a:rPr lang="en-IN" sz="2400" dirty="0"/>
              <a:t> Raw facts, numbers, symbols (e.g., "38, 98, 102").</a:t>
            </a:r>
          </a:p>
          <a:p>
            <a:pPr lvl="0"/>
            <a:r>
              <a:rPr lang="en-IN" sz="2400" b="1" dirty="0"/>
              <a:t>Information:</a:t>
            </a:r>
            <a:r>
              <a:rPr lang="en-IN" sz="2400" dirty="0"/>
              <a:t> Data with context and meaning (e.g., "Patient temperatures: 38, 98, 102").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18085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D01C-00C3-249B-4A29-50B81AFA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Transformation Process: Data to Information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3E71-646C-3013-F7D0-C07861B9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IN" sz="2400" dirty="0"/>
          </a:p>
          <a:p>
            <a:pPr lvl="1"/>
            <a:r>
              <a:rPr lang="en-IN" sz="2400" b="1" dirty="0"/>
              <a:t>Collection:</a:t>
            </a:r>
            <a:r>
              <a:rPr lang="en-IN" sz="2400" dirty="0"/>
              <a:t> Gathering raw data.</a:t>
            </a:r>
          </a:p>
          <a:p>
            <a:pPr lvl="1"/>
            <a:r>
              <a:rPr lang="en-IN" sz="2400" b="1" dirty="0"/>
              <a:t>Processing:</a:t>
            </a:r>
            <a:r>
              <a:rPr lang="en-IN" sz="2400" dirty="0"/>
              <a:t> Cleaning, sorting, calculating.</a:t>
            </a:r>
          </a:p>
          <a:p>
            <a:pPr lvl="1"/>
            <a:r>
              <a:rPr lang="en-IN" sz="2400" b="1" dirty="0"/>
              <a:t>Contextualization:</a:t>
            </a:r>
            <a:r>
              <a:rPr lang="en-IN" sz="2400" dirty="0"/>
              <a:t> Adding meaning (Who? When? Where?).</a:t>
            </a:r>
          </a:p>
          <a:p>
            <a:pPr lvl="1"/>
            <a:r>
              <a:rPr lang="en-IN" sz="2400" b="1" dirty="0"/>
              <a:t>Visualization:</a:t>
            </a:r>
            <a:r>
              <a:rPr lang="en-IN" sz="2400" dirty="0"/>
              <a:t> Making it readable.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575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16F4-801C-50AB-AF94-734568D9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From Information to Knowledge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E3F9-092A-CEC7-B582-B0363468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10" y="1715956"/>
            <a:ext cx="11029615" cy="3678303"/>
          </a:xfrm>
        </p:spPr>
        <p:txBody>
          <a:bodyPr/>
          <a:lstStyle/>
          <a:p>
            <a:pPr marL="0" lvl="0" indent="0">
              <a:buNone/>
            </a:pPr>
            <a:endParaRPr lang="en-IN" sz="2400" b="1" dirty="0"/>
          </a:p>
          <a:p>
            <a:pPr lvl="0"/>
            <a:r>
              <a:rPr lang="en-IN" sz="2400" b="1" dirty="0"/>
              <a:t>Information:</a:t>
            </a:r>
            <a:r>
              <a:rPr lang="en-IN" sz="2400" dirty="0"/>
              <a:t> "Sales dropped 10% in Q3."</a:t>
            </a:r>
          </a:p>
          <a:p>
            <a:pPr lvl="0"/>
            <a:r>
              <a:rPr lang="en-IN" sz="2400" b="1" dirty="0"/>
              <a:t>Knowledge:</a:t>
            </a:r>
            <a:r>
              <a:rPr lang="en-IN" sz="2400" dirty="0"/>
              <a:t> "Sales dropped because of the competitor's new product launch."</a:t>
            </a:r>
          </a:p>
          <a:p>
            <a:pPr lvl="0"/>
            <a:r>
              <a:rPr lang="en-IN" sz="2400" b="1" dirty="0"/>
              <a:t>Wisdom:</a:t>
            </a:r>
            <a:r>
              <a:rPr lang="en-IN" sz="2400" dirty="0"/>
              <a:t> "We need to innovate our pricing strategy to compete."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517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819A-CF3D-5F18-65D2-CA7C94C9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Value of Information in Decision Making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4D1C-70ED-10E5-3061-2163A546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3678303"/>
          </a:xfrm>
        </p:spPr>
        <p:txBody>
          <a:bodyPr/>
          <a:lstStyle/>
          <a:p>
            <a:pPr marL="0" lvl="0" indent="0">
              <a:buNone/>
            </a:pPr>
            <a:endParaRPr lang="en-IN" sz="2400" dirty="0"/>
          </a:p>
          <a:p>
            <a:pPr lvl="1"/>
            <a:r>
              <a:rPr lang="en-IN" sz="2400" dirty="0"/>
              <a:t>Reducing uncertainty.</a:t>
            </a:r>
          </a:p>
          <a:p>
            <a:pPr lvl="1"/>
            <a:r>
              <a:rPr lang="en-IN" sz="2400" dirty="0"/>
              <a:t>Identifying trends and patterns.</a:t>
            </a:r>
          </a:p>
          <a:p>
            <a:pPr lvl="1"/>
            <a:r>
              <a:rPr lang="en-IN" sz="2400" dirty="0"/>
              <a:t>Supporting evidence-based decisions.</a:t>
            </a:r>
          </a:p>
          <a:p>
            <a:pPr lvl="1"/>
            <a:r>
              <a:rPr lang="en-IN" sz="2400" dirty="0"/>
              <a:t>Avoiding "gut feeling" decisions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40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4028-DCF9-AE17-DC15-5523F1C8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to Action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354A-15C3-196B-6CDB-970A0E1E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Scenario:</a:t>
            </a:r>
            <a:r>
              <a:rPr lang="en-IN" sz="2400" dirty="0"/>
              <a:t> Retail store noticing a drop in foot traffic.</a:t>
            </a:r>
          </a:p>
          <a:p>
            <a:pPr lvl="0"/>
            <a:r>
              <a:rPr lang="en-IN" sz="2400" b="1" dirty="0"/>
              <a:t>Data:</a:t>
            </a:r>
            <a:r>
              <a:rPr lang="en-IN" sz="2400" dirty="0"/>
              <a:t> Foot traffic counters show -15%.</a:t>
            </a:r>
          </a:p>
          <a:p>
            <a:pPr lvl="0"/>
            <a:r>
              <a:rPr lang="en-IN" sz="2400" b="1" dirty="0"/>
              <a:t>Information:</a:t>
            </a:r>
            <a:r>
              <a:rPr lang="en-IN" sz="2400" dirty="0"/>
              <a:t> Drop correlates with a new competitor opening nearby.</a:t>
            </a:r>
          </a:p>
          <a:p>
            <a:pPr lvl="0"/>
            <a:r>
              <a:rPr lang="en-IN" sz="2400" b="1" dirty="0"/>
              <a:t>Action:</a:t>
            </a:r>
            <a:r>
              <a:rPr lang="en-IN" sz="2400" dirty="0"/>
              <a:t> Launch a targeted loyalty campaign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540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C8B9-03DE-F0A6-5204-7736CF62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Definition of Data-Driven Decision Making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C65A-518E-815F-BD70-95C4E0C8D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The practice of basing decisions on the analysis of data rather than intuition alone.</a:t>
            </a:r>
          </a:p>
          <a:p>
            <a:pPr lvl="0"/>
            <a:r>
              <a:rPr lang="en-IN" sz="2400" b="1" dirty="0"/>
              <a:t>Types:</a:t>
            </a:r>
            <a:r>
              <a:rPr lang="en-IN" sz="2400" dirty="0"/>
              <a:t> Descriptive, Diagnostic, Predictive, Prescriptive.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Evidence-based, Measurable, Repeatable.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improve organizational outcomes through objective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294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8CD7-4CF4-1B15-6B7B-CE942216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Principles of DDDM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C42B1-358A-5F18-D9F3-36BD5E566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291" y="1715956"/>
            <a:ext cx="11029615" cy="3678303"/>
          </a:xfrm>
        </p:spPr>
        <p:txBody>
          <a:bodyPr/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The foundational rules guiding data-driven organizations.</a:t>
            </a:r>
          </a:p>
          <a:p>
            <a:pPr lvl="0"/>
            <a:r>
              <a:rPr lang="en-IN" sz="2400" b="1" dirty="0"/>
              <a:t>Types:</a:t>
            </a:r>
            <a:r>
              <a:rPr lang="en-IN" sz="2400" dirty="0"/>
              <a:t> Data Accessibility, Data Quality, Cultural Support, Continuous Improvement.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Transparency, Accountability, Collaboration.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create a sustainable environment for data usage.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242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0982-BDD1-49DE-9906-8C64E6C9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Benefits of Using Data for Decisions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DE39-2A5D-98AE-EE79-A7AECD328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The positive outcomes of adopting DDDM.</a:t>
            </a:r>
          </a:p>
          <a:p>
            <a:pPr lvl="0"/>
            <a:r>
              <a:rPr lang="en-IN" sz="2400" b="1" dirty="0"/>
              <a:t>Types:</a:t>
            </a:r>
            <a:r>
              <a:rPr lang="en-IN" sz="2400" dirty="0"/>
              <a:t> Increased Efficiency, Better Customer Insights, Risk Mitigation, Innovation.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Quantifiable ROI, Competitive Edge.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demonstrate the tangible value of data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986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169D-5A3E-3596-BB49-203183F2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 the DDDM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7A19-B36B-0124-3B58-9F39E590F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The workflow for executing data-driven decisions.</a:t>
            </a:r>
          </a:p>
          <a:p>
            <a:pPr lvl="0"/>
            <a:r>
              <a:rPr lang="en-IN" sz="2400" b="1" dirty="0"/>
              <a:t>Steps:</a:t>
            </a:r>
            <a:r>
              <a:rPr lang="en-IN" sz="2400" dirty="0"/>
              <a:t> Define Problem → Collect Data → </a:t>
            </a:r>
            <a:r>
              <a:rPr lang="en-IN" sz="2400" dirty="0" err="1"/>
              <a:t>Analyze</a:t>
            </a:r>
            <a:r>
              <a:rPr lang="en-IN" sz="2400" dirty="0"/>
              <a:t> → Interpret → Decide → Monitor.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Cyclical, Iterative, Feedback-driven.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provide a structured approach to problem-solving.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6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0927-E241-24EA-5125-1A6AE2D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Analytics Maturity Model – From Descriptive to Prescriptive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6AB44-40DC-9F5F-EA57-7BCC303FF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Descriptive Analytics:</a:t>
            </a:r>
            <a:r>
              <a:rPr lang="en-IN" sz="2400" dirty="0"/>
              <a:t> </a:t>
            </a:r>
            <a:r>
              <a:rPr lang="en-IN" sz="2400" i="1" dirty="0"/>
              <a:t>What happened?</a:t>
            </a:r>
            <a:r>
              <a:rPr lang="en-IN" sz="2400" dirty="0"/>
              <a:t> (Reports, Dashboards)</a:t>
            </a:r>
          </a:p>
          <a:p>
            <a:pPr lvl="0"/>
            <a:r>
              <a:rPr lang="en-IN" sz="2400" b="1" dirty="0"/>
              <a:t>Diagnostic Analytics:</a:t>
            </a:r>
            <a:r>
              <a:rPr lang="en-IN" sz="2400" dirty="0"/>
              <a:t> </a:t>
            </a:r>
            <a:r>
              <a:rPr lang="en-IN" sz="2400" i="1" dirty="0"/>
              <a:t>Why did it happen?</a:t>
            </a:r>
            <a:r>
              <a:rPr lang="en-IN" sz="2400" dirty="0"/>
              <a:t> (Drill-downs, Data Mining)</a:t>
            </a:r>
          </a:p>
          <a:p>
            <a:pPr lvl="0"/>
            <a:r>
              <a:rPr lang="en-IN" sz="2400" b="1" dirty="0"/>
              <a:t>Predictive Analytics:</a:t>
            </a:r>
            <a:r>
              <a:rPr lang="en-IN" sz="2400" dirty="0"/>
              <a:t> </a:t>
            </a:r>
            <a:r>
              <a:rPr lang="en-IN" sz="2400" i="1" dirty="0"/>
              <a:t>What will happen?</a:t>
            </a:r>
            <a:r>
              <a:rPr lang="en-IN" sz="2400" dirty="0"/>
              <a:t> (Statistical Forecasting, ML Models)</a:t>
            </a:r>
          </a:p>
          <a:p>
            <a:pPr lvl="0"/>
            <a:r>
              <a:rPr lang="en-IN" sz="2400" b="1" dirty="0"/>
              <a:t>Prescriptive Analytics:</a:t>
            </a:r>
            <a:r>
              <a:rPr lang="en-IN" sz="2400" dirty="0"/>
              <a:t> </a:t>
            </a:r>
            <a:r>
              <a:rPr lang="en-IN" sz="2400" i="1" dirty="0"/>
              <a:t>What should we do about it?</a:t>
            </a:r>
            <a:r>
              <a:rPr lang="en-IN" sz="2400" dirty="0"/>
              <a:t> (Optimization, Simulation)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6861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70BA-0598-BEE0-F30A-952B3533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and Pitfalls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36C8-85F9-706B-BB1C-4DA3067BE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Common obstacles in implementing DDDM.</a:t>
            </a:r>
          </a:p>
          <a:p>
            <a:pPr lvl="0"/>
            <a:r>
              <a:rPr lang="en-IN" sz="2400" b="1" dirty="0"/>
              <a:t>Types:</a:t>
            </a:r>
            <a:r>
              <a:rPr lang="en-IN" sz="2400" dirty="0"/>
              <a:t> Data Silos, Poor Quality, Analysis Paralysis, Confirmation Bias.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Resistance to change, Technical debt, Misinterpretation.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identify and mitigate risks in data adoption.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9349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BC79-CBDF-02CD-1D54-78E204E3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67048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Real-Life Example: Netflix Recommendation Engine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CA25-448C-8968-A7F2-8D6015BE9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 Case study of DDDM in action.</a:t>
            </a:r>
          </a:p>
          <a:p>
            <a:pPr lvl="0"/>
            <a:r>
              <a:rPr lang="en-IN" sz="2400" b="1" dirty="0"/>
              <a:t>Scenario:</a:t>
            </a:r>
            <a:r>
              <a:rPr lang="en-IN" sz="2400" dirty="0"/>
              <a:t> Using viewing data to recommend content.</a:t>
            </a:r>
          </a:p>
          <a:p>
            <a:pPr lvl="0"/>
            <a:r>
              <a:rPr lang="en-IN" sz="2400" b="1" dirty="0"/>
              <a:t>Features:</a:t>
            </a:r>
            <a:r>
              <a:rPr lang="en-IN" sz="2400" dirty="0"/>
              <a:t> Personalization, Retention, Cost Reduction.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 To showcase the power of data in customer experience.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8900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7411-6D1D-2A5B-5017-6835D0C1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Cultural Obstacles to DDDM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39E2-5E91-347E-F73D-ED89C212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 err="1"/>
              <a:t>HiPPO</a:t>
            </a:r>
            <a:r>
              <a:rPr lang="en-IN" sz="2400" b="1" dirty="0"/>
              <a:t> Effect:</a:t>
            </a:r>
            <a:r>
              <a:rPr lang="en-IN" sz="2400" dirty="0"/>
              <a:t> (Highest Paid Person's Opinion) overriding empirical data.</a:t>
            </a:r>
          </a:p>
          <a:p>
            <a:pPr lvl="0"/>
            <a:r>
              <a:rPr lang="en-IN" sz="2400" b="1" dirty="0"/>
              <a:t>Siloed Data:</a:t>
            </a:r>
            <a:r>
              <a:rPr lang="en-IN" sz="2400" dirty="0"/>
              <a:t> Departments hiding data, preventing enterprise-wide insights.</a:t>
            </a:r>
          </a:p>
          <a:p>
            <a:pPr lvl="0"/>
            <a:r>
              <a:rPr lang="en-IN" sz="2400" b="1" dirty="0"/>
              <a:t>Data Literacy Gap:</a:t>
            </a:r>
            <a:r>
              <a:rPr lang="en-IN" sz="2400" dirty="0"/>
              <a:t> Employees lacking confidence to read and interpret charts correctly.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236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94F0-72BF-4E96-38E6-FEBE9978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Data Governance?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DB9F-206A-2389-59DB-4EC13491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 The overall management of the availability, usability, integrity, and security of enterprise data assets.</a:t>
            </a:r>
          </a:p>
          <a:p>
            <a:pPr lvl="0"/>
            <a:r>
              <a:rPr lang="en-IN" sz="2400" b="1" dirty="0"/>
              <a:t>Core Goals:</a:t>
            </a:r>
            <a:r>
              <a:rPr lang="en-IN" sz="2400" dirty="0"/>
              <a:t> Ensure high data quality, minimize legal liabilities, break down data silos, and protect sensitive information.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35200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A83A-FB66-7BE2-F78F-919A0883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Pillars of Data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DB53-3E7B-88D5-5756-2DA979201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Data Stewardship:</a:t>
            </a:r>
            <a:r>
              <a:rPr lang="en-IN" sz="2400" dirty="0"/>
              <a:t> Assigning business owners responsible for specific data domains (e.g., Customer Data Steward).</a:t>
            </a:r>
          </a:p>
          <a:p>
            <a:pPr lvl="0"/>
            <a:r>
              <a:rPr lang="en-IN" sz="2400" b="1" dirty="0"/>
              <a:t>Data Architecture &amp; Standards:</a:t>
            </a:r>
            <a:r>
              <a:rPr lang="en-IN" sz="2400" dirty="0"/>
              <a:t> Uniform definitions, naming conventions, and metadata management.</a:t>
            </a:r>
          </a:p>
          <a:p>
            <a:pPr lvl="0"/>
            <a:r>
              <a:rPr lang="en-IN" sz="2400" b="1" dirty="0"/>
              <a:t>Security &amp; Access Control:</a:t>
            </a:r>
            <a:r>
              <a:rPr lang="en-IN" sz="2400" dirty="0"/>
              <a:t> Role-Based Access Control (RBAC), multi-factor authentication, encryption standard enforcement.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55768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8F0C-9434-8BF8-66E7-AB5A1881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Data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FF70-2676-CCF3-4445-0F32450F8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 A branch of ethics that evaluates moral problems related to data collection, algorithmic processing, and information use.</a:t>
            </a:r>
          </a:p>
          <a:p>
            <a:pPr lvl="0"/>
            <a:r>
              <a:rPr lang="en-IN" sz="2400" b="1" dirty="0"/>
              <a:t>Key Question:</a:t>
            </a:r>
            <a:r>
              <a:rPr lang="en-IN" sz="2400" dirty="0"/>
              <a:t> </a:t>
            </a:r>
            <a:r>
              <a:rPr lang="en-IN" sz="2400" i="1" dirty="0"/>
              <a:t>Just because we CAN collect this data, SHOULD we?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31804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AFCB-C90A-B769-D24B-D1F36BB6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Ethical Principles – Privacy &amp; 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E833-5679-AF7B-28D8-C117E8B9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Data Minimization:</a:t>
            </a:r>
            <a:r>
              <a:rPr lang="en-IN" sz="2400" dirty="0"/>
              <a:t> Collect only the data strictly necessary for the intended purpose.</a:t>
            </a:r>
          </a:p>
          <a:p>
            <a:pPr lvl="0"/>
            <a:r>
              <a:rPr lang="en-IN" sz="2400" b="1" dirty="0"/>
              <a:t>Confidentiality:</a:t>
            </a:r>
            <a:r>
              <a:rPr lang="en-IN" sz="2400" dirty="0"/>
              <a:t> Protecting sensitive user records (PII - Personally Identifiable Information) from unauthorized eyes.</a:t>
            </a:r>
          </a:p>
          <a:p>
            <a:pPr lvl="0"/>
            <a:r>
              <a:rPr lang="en-IN" sz="2400" b="1" dirty="0"/>
              <a:t>Consent:</a:t>
            </a:r>
            <a:r>
              <a:rPr lang="en-IN" sz="2400" dirty="0"/>
              <a:t> Ensuring users explicitly opt-in with a clear understanding of how their data will be used.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4522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4D9D-D0C3-ED7A-FE88-24B64B86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Ethical Principles – Transparency &amp; Algorithmic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EA62-EDAA-33FF-3A8E-83FCA3F2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Transparency:</a:t>
            </a:r>
            <a:r>
              <a:rPr lang="en-IN" sz="2400" dirty="0"/>
              <a:t> Clearly explaining how algorithms use customer data to make automated decisions (e.g., loan approvals).</a:t>
            </a:r>
          </a:p>
          <a:p>
            <a:pPr lvl="0"/>
            <a:r>
              <a:rPr lang="en-IN" sz="2400" b="1" dirty="0"/>
              <a:t>Algorithmic Bias:</a:t>
            </a:r>
            <a:r>
              <a:rPr lang="en-IN" sz="2400" dirty="0"/>
              <a:t> Preventing historical biases in training data from causing discrimination based on race, gender, or age in AI/ML outputs.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03447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B62C-31C8-B324-844E-B6AFC08A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Regulatory Compliance – GDPR (General Data Protection Regulation)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CF1C3-8011-2D1B-2524-47281FAF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Scope:</a:t>
            </a:r>
            <a:r>
              <a:rPr lang="en-IN" sz="2400" dirty="0"/>
              <a:t> EU regulation with global impact (applies to anyone processing EU resident data).</a:t>
            </a:r>
          </a:p>
          <a:p>
            <a:pPr lvl="0"/>
            <a:r>
              <a:rPr lang="en-IN" sz="2400" b="1" dirty="0"/>
              <a:t>Key Rights:</a:t>
            </a:r>
            <a:endParaRPr lang="en-IN" sz="2400" dirty="0"/>
          </a:p>
          <a:p>
            <a:pPr lvl="1"/>
            <a:r>
              <a:rPr lang="en-IN" sz="2400" dirty="0"/>
              <a:t>Right to be Forgotten (Data Erasure).</a:t>
            </a:r>
          </a:p>
          <a:p>
            <a:pPr lvl="1"/>
            <a:r>
              <a:rPr lang="en-IN" sz="2400" dirty="0"/>
              <a:t>Right to Access &amp; Data Portability.</a:t>
            </a:r>
          </a:p>
          <a:p>
            <a:pPr lvl="0"/>
            <a:r>
              <a:rPr lang="en-IN" sz="2400" b="1" dirty="0"/>
              <a:t>Penalties:</a:t>
            </a:r>
            <a:r>
              <a:rPr lang="en-IN" sz="2400" dirty="0"/>
              <a:t> Up to €20M or 4% of global annual turnover.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9204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35E8-1468-C486-B917-256FE98A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Building a Responsible Data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A6A0-043C-B4EA-4808-56D0DA1A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Continuous employee training on data privacy and security threats (phishing, social engineering).</a:t>
            </a:r>
          </a:p>
          <a:p>
            <a:pPr lvl="0"/>
            <a:r>
              <a:rPr lang="en-IN" sz="2400" dirty="0"/>
              <a:t>Establishing an Ethics Board to review automated models and data initiatives.</a:t>
            </a:r>
          </a:p>
          <a:p>
            <a:pPr lvl="0"/>
            <a:r>
              <a:rPr lang="en-IN" sz="2400" dirty="0"/>
              <a:t>Creating safe whistleblowing channels for reporting data abuses.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0973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5AD4-3FF6-1938-7FC3-A88CA97A1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Summary &amp; Capstone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C2905-A068-2F39-7ED5-5EDBF9AD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IT provides infrastructure and business systems (ERP, CRM).</a:t>
            </a:r>
          </a:p>
          <a:p>
            <a:pPr lvl="0"/>
            <a:r>
              <a:rPr lang="en-IN" sz="2400" dirty="0"/>
              <a:t>Data flows through a structured lifecycle and requires governance to maintain high quality.</a:t>
            </a:r>
          </a:p>
          <a:p>
            <a:pPr lvl="0"/>
            <a:r>
              <a:rPr lang="en-IN" sz="2400" dirty="0"/>
              <a:t>BAs convert raw data into insights, steering data-driven decisions while keeping ethics and compliance at the </a:t>
            </a:r>
            <a:r>
              <a:rPr lang="en-IN" sz="2400" dirty="0" err="1"/>
              <a:t>center</a:t>
            </a:r>
            <a:r>
              <a:rPr lang="en-IN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8361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0ECF-5B0A-07B1-C8B2-CD1D150F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Enterprise Architecture (EA)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688B-805B-F5F6-EEC2-D7C40426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Definition:</a:t>
            </a:r>
            <a:r>
              <a:rPr lang="en-IN" sz="2400" dirty="0"/>
              <a:t> EA aligns business goals with IT strategy, software architectures, and infrastructure.</a:t>
            </a:r>
          </a:p>
          <a:p>
            <a:pPr lvl="0"/>
            <a:r>
              <a:rPr lang="en-IN" sz="2400" b="1" dirty="0"/>
              <a:t>TOGAF (The Open Group Architecture Framework):</a:t>
            </a:r>
            <a:r>
              <a:rPr lang="en-IN" sz="2400" dirty="0"/>
              <a:t> Business, Data, Application, and Technology Architectures.</a:t>
            </a:r>
          </a:p>
          <a:p>
            <a:pPr lvl="0"/>
            <a:r>
              <a:rPr lang="en-IN" sz="2400" b="1" dirty="0"/>
              <a:t>Zachman Framework:</a:t>
            </a:r>
            <a:r>
              <a:rPr lang="en-IN" sz="2400" dirty="0"/>
              <a:t> A 6x6 matrix defining perspectives (Executive to Developer) against questions (What, How, Where, Who, When, Why).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5710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357E-38D8-933A-5ECF-0293AA92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Patterns – Middleware &amp;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00A91-426D-7CE0-5D7E-4B53294C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Point-to-Point vs. Middleware:</a:t>
            </a:r>
            <a:r>
              <a:rPr lang="en-IN" sz="2400" dirty="0"/>
              <a:t> Spaghetti integration vs. Enterprise Service Bus (ESB) and microservices.</a:t>
            </a:r>
          </a:p>
          <a:p>
            <a:pPr lvl="0"/>
            <a:r>
              <a:rPr lang="en-IN" sz="2400" b="1" dirty="0"/>
              <a:t>API Protocols:</a:t>
            </a:r>
            <a:r>
              <a:rPr lang="en-IN" sz="2400" dirty="0"/>
              <a:t> REST (JSON-based, lightweight) vs. SOAP (XML-based, strict security standards).</a:t>
            </a:r>
          </a:p>
          <a:p>
            <a:pPr lvl="0"/>
            <a:r>
              <a:rPr lang="en-IN" sz="2400" b="1" dirty="0"/>
              <a:t>Event-Driven Architecture:</a:t>
            </a:r>
            <a:r>
              <a:rPr lang="en-IN" sz="2400" dirty="0"/>
              <a:t> Asynchronous data processing using message brokers (e.g., Apache Kafka, RabbitMQ)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443915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44FB-85C7-5E39-5DF6-7F5019E40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Cloud Infrastructure Models – IaaS, PaaS, and 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4640-C61F-7249-1D8F-1C70FF623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Infrastructure as a Service (IaaS):</a:t>
            </a:r>
            <a:r>
              <a:rPr lang="en-IN" sz="2400" dirty="0"/>
              <a:t> Raw computing power and storage (e.g., AWS EC2, Azure VMs).</a:t>
            </a:r>
          </a:p>
          <a:p>
            <a:pPr lvl="0"/>
            <a:r>
              <a:rPr lang="en-IN" sz="2400" b="1" dirty="0"/>
              <a:t>Platform as a Service (PaaS):</a:t>
            </a:r>
            <a:r>
              <a:rPr lang="en-IN" sz="2400" dirty="0"/>
              <a:t> Managed runtime environments for developers (e.g., AWS Elastic Beanstalk, Heroku).</a:t>
            </a:r>
          </a:p>
          <a:p>
            <a:pPr lvl="0"/>
            <a:r>
              <a:rPr lang="en-IN" sz="2400" b="1" dirty="0"/>
              <a:t>Software as a Service (SaaS):</a:t>
            </a:r>
            <a:r>
              <a:rPr lang="en-IN" sz="2400" dirty="0"/>
              <a:t> Ready-to-use business software (e.g., Salesforce, Microsoft 365).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05391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413E-233F-E8B3-A9ED-5CD872D7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Cloud vs. On-Premises vs. Hybrid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9D134-EB78-FF12-E63C-C3CB9825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On-Premises:</a:t>
            </a:r>
            <a:r>
              <a:rPr lang="en-IN" sz="2400" dirty="0"/>
              <a:t> Total control over hardware and security; high capital expenditure (</a:t>
            </a:r>
            <a:r>
              <a:rPr lang="en-IN" sz="2400" dirty="0" err="1"/>
              <a:t>CapEx</a:t>
            </a:r>
            <a:r>
              <a:rPr lang="en-IN" sz="2400" dirty="0"/>
              <a:t>).</a:t>
            </a:r>
          </a:p>
          <a:p>
            <a:pPr lvl="0"/>
            <a:r>
              <a:rPr lang="en-IN" sz="2400" b="1" dirty="0"/>
              <a:t>Public Cloud:</a:t>
            </a:r>
            <a:r>
              <a:rPr lang="en-IN" sz="2400" dirty="0"/>
              <a:t> High elasticity, operational expenditure model (</a:t>
            </a:r>
            <a:r>
              <a:rPr lang="en-IN" sz="2400" dirty="0" err="1"/>
              <a:t>OpEx</a:t>
            </a:r>
            <a:r>
              <a:rPr lang="en-IN" sz="2400" dirty="0"/>
              <a:t>), third-party dependency.</a:t>
            </a:r>
          </a:p>
          <a:p>
            <a:pPr lvl="0"/>
            <a:r>
              <a:rPr lang="en-IN" sz="2400" b="1" dirty="0"/>
              <a:t>Hybrid Cloud:</a:t>
            </a:r>
            <a:r>
              <a:rPr lang="en-IN" sz="2400" dirty="0"/>
              <a:t> Sensitive data stays on-premises; scalable workloads run in the public cloud.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997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96A4-A050-24A4-910C-B6E34D71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Legacy System Modernization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E815-82B0-AC0F-4A89-906375F95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The Legacy Dilemma:</a:t>
            </a:r>
            <a:r>
              <a:rPr lang="en-IN" sz="2400" dirty="0"/>
              <a:t> Systems that are mission-critical but run on outdated, difficult-to-maintain technology.</a:t>
            </a:r>
          </a:p>
          <a:p>
            <a:pPr lvl="0"/>
            <a:r>
              <a:rPr lang="en-IN" sz="2400" b="1" dirty="0"/>
              <a:t>Modernization Strategies (The 5 Rs):</a:t>
            </a:r>
            <a:r>
              <a:rPr lang="en-IN" sz="2400" dirty="0"/>
              <a:t> Rehost (Lift &amp; Shift), Refactor, </a:t>
            </a:r>
            <a:r>
              <a:rPr lang="en-IN" sz="2400" dirty="0" err="1"/>
              <a:t>Replatform</a:t>
            </a:r>
            <a:r>
              <a:rPr lang="en-IN" sz="2400" dirty="0"/>
              <a:t>, Rearchitect, Replace.</a:t>
            </a:r>
          </a:p>
          <a:p>
            <a:pPr lvl="0"/>
            <a:r>
              <a:rPr lang="en-IN" sz="2400" b="1" dirty="0"/>
              <a:t>Business Impact:</a:t>
            </a:r>
            <a:r>
              <a:rPr lang="en-IN" sz="2400" dirty="0"/>
              <a:t> Risk reduction, increased performance, and lower maintenance costs.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33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527A-072B-83EC-E5C4-4BAF668A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Big Data Fundamentals – The 5 Vs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B373-0484-736D-769C-00455DC0A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Volume:</a:t>
            </a:r>
            <a:r>
              <a:rPr lang="en-IN" sz="2400" dirty="0"/>
              <a:t> Scale of data (terabytes to zettabytes).</a:t>
            </a:r>
          </a:p>
          <a:p>
            <a:pPr lvl="0"/>
            <a:r>
              <a:rPr lang="en-IN" sz="2400" b="1" dirty="0"/>
              <a:t>Velocity:</a:t>
            </a:r>
            <a:r>
              <a:rPr lang="en-IN" sz="2400" dirty="0"/>
              <a:t> Speed at which data arrives and streams in real time.</a:t>
            </a:r>
          </a:p>
          <a:p>
            <a:pPr lvl="0"/>
            <a:r>
              <a:rPr lang="en-IN" sz="2400" b="1" dirty="0"/>
              <a:t>Variety:</a:t>
            </a:r>
            <a:r>
              <a:rPr lang="en-IN" sz="2400" dirty="0"/>
              <a:t> Diversity of data formats (structured, unstructured, audio, video).</a:t>
            </a:r>
          </a:p>
          <a:p>
            <a:pPr lvl="0"/>
            <a:r>
              <a:rPr lang="en-IN" sz="2400" b="1" dirty="0"/>
              <a:t>Veracity:</a:t>
            </a:r>
            <a:r>
              <a:rPr lang="en-IN" sz="2400" dirty="0"/>
              <a:t> Trustworthiness and reliability of incoming data.</a:t>
            </a:r>
          </a:p>
          <a:p>
            <a:pPr lvl="0"/>
            <a:r>
              <a:rPr lang="en-IN" sz="2400" b="1" dirty="0"/>
              <a:t>Value:</a:t>
            </a:r>
            <a:r>
              <a:rPr lang="en-IN" sz="2400" dirty="0"/>
              <a:t> Turning raw processing capacity into financial/operational return.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3882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6CB5-74BA-D778-0943-64F5C734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Integration Pipelines – ETL vs. 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6066-CD18-98C7-2CAF-8DB9E02CE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ETL (Extract, Transform, Load):</a:t>
            </a:r>
            <a:r>
              <a:rPr lang="en-IN" sz="2400" dirty="0"/>
              <a:t> Data is transformed on a secondary server before hitting the storage target (ideal for traditional Data Warehouses).</a:t>
            </a:r>
          </a:p>
          <a:p>
            <a:pPr lvl="0"/>
            <a:r>
              <a:rPr lang="en-IN" sz="2400" b="1" dirty="0"/>
              <a:t>ELT (Extract, Load, Transform):</a:t>
            </a:r>
            <a:r>
              <a:rPr lang="en-IN" sz="2400" dirty="0"/>
              <a:t> Raw data is loaded straight into modern cloud storage and transformed in-place using cloud compute engines (e.g., Snowflake, </a:t>
            </a:r>
            <a:r>
              <a:rPr lang="en-IN" sz="2400" dirty="0" err="1"/>
              <a:t>BigQuery</a:t>
            </a:r>
            <a:r>
              <a:rPr lang="en-IN" sz="2400" dirty="0"/>
              <a:t>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1301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A679-4848-37A8-5BB7-AE73D7B5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Warehouses vs. Data Lakes vs. Data </a:t>
            </a:r>
            <a:r>
              <a:rPr lang="en-IN" b="1" dirty="0" err="1"/>
              <a:t>Lakehouses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6D11-7DF4-0117-C029-82654CFB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Data Warehouse:</a:t>
            </a:r>
            <a:r>
              <a:rPr lang="en-IN" sz="2400" dirty="0"/>
              <a:t> Relational, schema-on-write, optimized for fast SQL queries and business intelligence.</a:t>
            </a:r>
          </a:p>
          <a:p>
            <a:pPr lvl="0"/>
            <a:r>
              <a:rPr lang="en-IN" sz="2400" b="1" dirty="0"/>
              <a:t>Data Lake:</a:t>
            </a:r>
            <a:r>
              <a:rPr lang="en-IN" sz="2400" dirty="0"/>
              <a:t> Object storage, schema-on-read, holds raw unstructured data for data science and ML.</a:t>
            </a:r>
          </a:p>
          <a:p>
            <a:pPr lvl="0"/>
            <a:r>
              <a:rPr lang="en-IN" sz="2400" b="1" dirty="0"/>
              <a:t>Data Lakehouse:</a:t>
            </a:r>
            <a:r>
              <a:rPr lang="en-IN" sz="2400" dirty="0"/>
              <a:t> Combines the low-cost storage of Data Lakes with the ACID transaction reliability of Data Warehouses (e.g., Databricks).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26763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3A7A-0F74-12E4-FD8D-6363D48C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Master Data Management (MDM)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99816-0E35-665F-ADFD-CD1EC889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What is MDM?</a:t>
            </a:r>
            <a:r>
              <a:rPr lang="en-IN" sz="2400" dirty="0"/>
              <a:t> Processes and tools that consistently define and manage non-transactional key data entities (Customer, Product, Supplier).</a:t>
            </a:r>
          </a:p>
          <a:p>
            <a:pPr lvl="0"/>
            <a:r>
              <a:rPr lang="en-IN" sz="2400" b="1" dirty="0"/>
              <a:t>Problem Solved:</a:t>
            </a:r>
            <a:r>
              <a:rPr lang="en-IN" sz="2400" dirty="0"/>
              <a:t> Prevents redundant customer records across marketing, billing, and support databases.</a:t>
            </a:r>
          </a:p>
          <a:p>
            <a:pPr lvl="0"/>
            <a:r>
              <a:rPr lang="en-IN" sz="2400" b="1" dirty="0"/>
              <a:t>Key Output:</a:t>
            </a:r>
            <a:r>
              <a:rPr lang="en-IN" sz="2400" dirty="0"/>
              <a:t> Golden Records.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7358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5249-75F4-C35A-09C9-D3957B48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Security &amp; Encryption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D43FE-F339-06CD-EC28-1FCD191A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Encryption at Rest:</a:t>
            </a:r>
            <a:r>
              <a:rPr lang="en-IN" sz="2400" dirty="0"/>
              <a:t> Protecting stored files using AES-256 standards.</a:t>
            </a:r>
          </a:p>
          <a:p>
            <a:pPr lvl="0"/>
            <a:r>
              <a:rPr lang="en-IN" sz="2400" b="1" dirty="0"/>
              <a:t>Encryption in Transit:</a:t>
            </a:r>
            <a:r>
              <a:rPr lang="en-IN" sz="2400" dirty="0"/>
              <a:t> Securing networks using TLS/SSL protocols.</a:t>
            </a:r>
          </a:p>
          <a:p>
            <a:pPr lvl="0"/>
            <a:r>
              <a:rPr lang="en-IN" sz="2400" b="1" dirty="0"/>
              <a:t>Data Masking &amp; Anonymization:</a:t>
            </a:r>
            <a:r>
              <a:rPr lang="en-IN" sz="2400" dirty="0"/>
              <a:t> Redacting PII in non-production development environments.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5464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3F90-EEB3-9291-0D86-34FF4F31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IIBA BABOK Framework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6BB9-2C75-5617-C568-11FC9669D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Business Analysis Planning &amp; Monitoring.</a:t>
            </a:r>
          </a:p>
          <a:p>
            <a:pPr lvl="0"/>
            <a:r>
              <a:rPr lang="en-IN" sz="2400" dirty="0"/>
              <a:t>Elicitation &amp; Collaboration.</a:t>
            </a:r>
          </a:p>
          <a:p>
            <a:pPr lvl="0"/>
            <a:r>
              <a:rPr lang="en-IN" sz="2400" dirty="0"/>
              <a:t>Requirements Life Cycle Management.</a:t>
            </a:r>
          </a:p>
          <a:p>
            <a:pPr lvl="0"/>
            <a:r>
              <a:rPr lang="en-IN" sz="2400" dirty="0"/>
              <a:t>Strategy Analysis, Requirements Analysis &amp; Design Definition, Solution Evaluation.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536350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A898-7FDE-C357-80E6-775A5F99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Writing Effective Requirements – User Stories &amp; Acceptance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44881-1983-2D9A-790F-B61A32A2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User Story Structure:</a:t>
            </a:r>
            <a:r>
              <a:rPr lang="en-IN" sz="2400" dirty="0"/>
              <a:t> </a:t>
            </a:r>
            <a:r>
              <a:rPr lang="en-IN" sz="2400" i="1" dirty="0"/>
              <a:t>"As a [User Role], I want to [Perform Action], So that [Receive Benefit]."</a:t>
            </a:r>
            <a:endParaRPr lang="en-IN" sz="2400" dirty="0"/>
          </a:p>
          <a:p>
            <a:pPr lvl="0"/>
            <a:r>
              <a:rPr lang="en-IN" sz="2400" b="1" dirty="0"/>
              <a:t>INVEST Criteria:</a:t>
            </a:r>
            <a:r>
              <a:rPr lang="en-IN" sz="2400" dirty="0"/>
              <a:t> </a:t>
            </a:r>
            <a:r>
              <a:rPr lang="en-IN" sz="2400" b="1" dirty="0"/>
              <a:t>I</a:t>
            </a:r>
            <a:r>
              <a:rPr lang="en-IN" sz="2400" dirty="0"/>
              <a:t>ndependent, </a:t>
            </a:r>
            <a:r>
              <a:rPr lang="en-IN" sz="2400" b="1" dirty="0"/>
              <a:t>N</a:t>
            </a:r>
            <a:r>
              <a:rPr lang="en-IN" sz="2400" dirty="0"/>
              <a:t>egotiable, </a:t>
            </a:r>
            <a:r>
              <a:rPr lang="en-IN" sz="2400" b="1" dirty="0"/>
              <a:t>V</a:t>
            </a:r>
            <a:r>
              <a:rPr lang="en-IN" sz="2400" dirty="0"/>
              <a:t>aluable, </a:t>
            </a:r>
            <a:r>
              <a:rPr lang="en-IN" sz="2400" b="1" dirty="0"/>
              <a:t>E</a:t>
            </a:r>
            <a:r>
              <a:rPr lang="en-IN" sz="2400" dirty="0"/>
              <a:t>stimable, </a:t>
            </a:r>
            <a:r>
              <a:rPr lang="en-IN" sz="2400" b="1" dirty="0"/>
              <a:t>S</a:t>
            </a:r>
            <a:r>
              <a:rPr lang="en-IN" sz="2400" dirty="0"/>
              <a:t>mall, </a:t>
            </a:r>
            <a:r>
              <a:rPr lang="en-IN" sz="2400" b="1" dirty="0"/>
              <a:t>T</a:t>
            </a:r>
            <a:r>
              <a:rPr lang="en-IN" sz="2400" dirty="0"/>
              <a:t>estable.</a:t>
            </a:r>
          </a:p>
          <a:p>
            <a:pPr lvl="0"/>
            <a:r>
              <a:rPr lang="en-IN" sz="2400" b="1" dirty="0"/>
              <a:t>Acceptance Criteria:</a:t>
            </a:r>
            <a:r>
              <a:rPr lang="en-IN" sz="2400" dirty="0"/>
              <a:t> Given-When-Then format establishing explicit definition of done.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57938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E189-6882-0BBF-6DC9-710938D8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Prototyping and Wireframing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530-7957-722B-400F-00D3B5A3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Low-Fidelity:</a:t>
            </a:r>
            <a:r>
              <a:rPr lang="en-IN" sz="2400" dirty="0"/>
              <a:t> Paper sketches, basic whiteboard flows for quick validation.</a:t>
            </a:r>
          </a:p>
          <a:p>
            <a:pPr lvl="0"/>
            <a:r>
              <a:rPr lang="en-IN" sz="2400" b="1" dirty="0"/>
              <a:t>High-Fidelity:</a:t>
            </a:r>
            <a:r>
              <a:rPr lang="en-IN" sz="2400" dirty="0"/>
              <a:t> Interactive screen prototypes created in tools like Figma or Axure.</a:t>
            </a:r>
          </a:p>
          <a:p>
            <a:pPr lvl="0"/>
            <a:r>
              <a:rPr lang="en-IN" sz="2400" b="1" dirty="0"/>
              <a:t>Benefits:</a:t>
            </a:r>
            <a:r>
              <a:rPr lang="en-IN" sz="2400" dirty="0"/>
              <a:t> Reduces scope creep by clarifying user interfaces before coding starts.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950138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D019-31C0-E9C9-2A51-D24EECAE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Acceptance Testing (UAT)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87E3-F5C8-EB8C-217C-A20AB345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BA Role in UAT:</a:t>
            </a:r>
            <a:r>
              <a:rPr lang="en-IN" sz="2400" dirty="0"/>
              <a:t> Writing test scripts based on business requirements, coordinating business end-users, and tracking defects.</a:t>
            </a:r>
          </a:p>
          <a:p>
            <a:pPr lvl="0"/>
            <a:r>
              <a:rPr lang="en-IN" sz="2400" b="1" dirty="0"/>
              <a:t>Objective:</a:t>
            </a:r>
            <a:r>
              <a:rPr lang="en-IN" sz="2400" dirty="0"/>
              <a:t> Confirming that the software works as intended in real-world operational scenarios.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02602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6FDB-74E6-4D78-ED81-C2CA59A6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organizational Change Management (OCM)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2F07-51F3-75C1-0E24-22FC2DEF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Why Systems Fail:</a:t>
            </a:r>
            <a:r>
              <a:rPr lang="en-IN" sz="2400" dirty="0"/>
              <a:t> Technical delivery succeeds, but end-users resist changing their workflow.</a:t>
            </a:r>
          </a:p>
          <a:p>
            <a:pPr lvl="0"/>
            <a:r>
              <a:rPr lang="en-IN" sz="2400" b="1" dirty="0"/>
              <a:t>ADKAR Model:</a:t>
            </a:r>
            <a:r>
              <a:rPr lang="en-IN" sz="2400" dirty="0"/>
              <a:t> </a:t>
            </a:r>
            <a:r>
              <a:rPr lang="en-IN" sz="2400" b="1" dirty="0"/>
              <a:t>A</a:t>
            </a:r>
            <a:r>
              <a:rPr lang="en-IN" sz="2400" dirty="0"/>
              <a:t>wareness of need for change, </a:t>
            </a:r>
            <a:r>
              <a:rPr lang="en-IN" sz="2400" b="1" dirty="0"/>
              <a:t>D</a:t>
            </a:r>
            <a:r>
              <a:rPr lang="en-IN" sz="2400" dirty="0"/>
              <a:t>esire to support it, </a:t>
            </a:r>
            <a:r>
              <a:rPr lang="en-IN" sz="2400" b="1" dirty="0"/>
              <a:t>K</a:t>
            </a:r>
            <a:r>
              <a:rPr lang="en-IN" sz="2400" dirty="0"/>
              <a:t>nowledge of how to change, </a:t>
            </a:r>
            <a:r>
              <a:rPr lang="en-IN" sz="2400" b="1" dirty="0"/>
              <a:t>A</a:t>
            </a:r>
            <a:r>
              <a:rPr lang="en-IN" sz="2400" dirty="0"/>
              <a:t>bility to execute, </a:t>
            </a:r>
            <a:r>
              <a:rPr lang="en-IN" sz="2400" b="1" dirty="0"/>
              <a:t>R</a:t>
            </a:r>
            <a:r>
              <a:rPr lang="en-IN" sz="2400" dirty="0"/>
              <a:t>einforcement to sustain.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79770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C466-13E1-CA66-7C55-356D2AD2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Metadata &amp; Data Lineage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FCB2-3A7F-81B7-4F23-B24E905B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Metadata:</a:t>
            </a:r>
            <a:r>
              <a:rPr lang="en-IN" sz="2400" dirty="0"/>
              <a:t> "Data about data" (file size, creation timestamp, author, schema definitions).</a:t>
            </a:r>
          </a:p>
          <a:p>
            <a:pPr lvl="0"/>
            <a:r>
              <a:rPr lang="en-IN" sz="2400" b="1" dirty="0"/>
              <a:t>Data Lineage:</a:t>
            </a:r>
            <a:r>
              <a:rPr lang="en-IN" sz="2400" dirty="0"/>
              <a:t> Mapping the lifecycle of a data point from original source, through transformations, to final reporting dashboard.</a:t>
            </a:r>
          </a:p>
          <a:p>
            <a:pPr lvl="0"/>
            <a:r>
              <a:rPr lang="en-IN" sz="2400" b="1" dirty="0"/>
              <a:t>Value:</a:t>
            </a:r>
            <a:r>
              <a:rPr lang="en-IN" sz="2400" dirty="0"/>
              <a:t> Essential for compliance auditing and debugging data discrepancies.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5212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55BE-6436-C01B-2324-0AFA26CB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Defining 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9CA34-D7B2-D0CD-A214-5B7DF6A67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Lagging Indicators:</a:t>
            </a:r>
            <a:r>
              <a:rPr lang="en-IN" sz="2400" dirty="0"/>
              <a:t> Measure past results (e.g., Quarterly Net Profit).</a:t>
            </a:r>
          </a:p>
          <a:p>
            <a:pPr lvl="0"/>
            <a:r>
              <a:rPr lang="en-IN" sz="2400" b="1" dirty="0"/>
              <a:t>Leading Indicators:</a:t>
            </a:r>
            <a:r>
              <a:rPr lang="en-IN" sz="2400" dirty="0"/>
              <a:t> Predict future performance (e.g., Customer Engagement Index).</a:t>
            </a:r>
          </a:p>
          <a:p>
            <a:pPr lvl="0"/>
            <a:r>
              <a:rPr lang="en-IN" sz="2400" b="1" dirty="0"/>
              <a:t>SMART Rule:</a:t>
            </a:r>
            <a:r>
              <a:rPr lang="en-IN" sz="2400" dirty="0"/>
              <a:t> Metrics must be </a:t>
            </a:r>
            <a:r>
              <a:rPr lang="en-IN" sz="2400" b="1" dirty="0"/>
              <a:t>S</a:t>
            </a:r>
            <a:r>
              <a:rPr lang="en-IN" sz="2400" dirty="0"/>
              <a:t>pecific, </a:t>
            </a:r>
            <a:r>
              <a:rPr lang="en-IN" sz="2400" b="1" dirty="0"/>
              <a:t>M</a:t>
            </a:r>
            <a:r>
              <a:rPr lang="en-IN" sz="2400" dirty="0"/>
              <a:t>easurable, </a:t>
            </a:r>
            <a:r>
              <a:rPr lang="en-IN" sz="2400" b="1" dirty="0"/>
              <a:t>A</a:t>
            </a:r>
            <a:r>
              <a:rPr lang="en-IN" sz="2400" dirty="0"/>
              <a:t>chievable, </a:t>
            </a:r>
            <a:r>
              <a:rPr lang="en-IN" sz="2400" b="1" dirty="0"/>
              <a:t>R</a:t>
            </a:r>
            <a:r>
              <a:rPr lang="en-IN" sz="2400" dirty="0"/>
              <a:t>elevant, and </a:t>
            </a:r>
            <a:r>
              <a:rPr lang="en-IN" sz="2400" b="1" dirty="0"/>
              <a:t>T</a:t>
            </a:r>
            <a:r>
              <a:rPr lang="en-IN" sz="2400" dirty="0"/>
              <a:t>ime-bound.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08265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DE5-A5D5-04CC-9901-D4D8039A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Executive Dashboards vs. Operational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24EE1-420A-BB71-57E0-E9DBF9107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Executive Dashboards:</a:t>
            </a:r>
            <a:r>
              <a:rPr lang="en-IN" sz="2400" dirty="0"/>
              <a:t> High-level summary visuals, strategic metrics, updated daily/weekly.</a:t>
            </a:r>
          </a:p>
          <a:p>
            <a:pPr lvl="0"/>
            <a:r>
              <a:rPr lang="en-IN" sz="2400" b="1" dirty="0"/>
              <a:t>Operational Reports:</a:t>
            </a:r>
            <a:r>
              <a:rPr lang="en-IN" sz="2400" dirty="0"/>
              <a:t> Granular detail, real-time transaction logs, used by front-line staff for daily operations.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399275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7AAE-1277-A924-A058-E750C48C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68" y="0"/>
            <a:ext cx="11029615" cy="1497507"/>
          </a:xfrm>
        </p:spPr>
        <p:txBody>
          <a:bodyPr/>
          <a:lstStyle/>
          <a:p>
            <a:r>
              <a:rPr lang="en-IN" dirty="0"/>
              <a:t>Advanced Diagnostic Analytics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91B67-9ECC-6EF3-AA0F-9A9C1186E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6379" y="1813207"/>
            <a:ext cx="11029615" cy="600556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Drill-Down Analysis: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Moving from summary charts into underlying transaction records.</a:t>
            </a:r>
          </a:p>
          <a:p>
            <a:pPr lvl="0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Data Mining: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Discovering hidden associations or anomalies across large datasets.</a:t>
            </a:r>
          </a:p>
          <a:p>
            <a:pPr lvl="0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Correlation vs. Causation: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Ensuring two parallel trends are actually cause-and-effect before taking action.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913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DC04-4FDF-41D7-5DE1-3CC23C96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Hypothesis Testing &amp; Statistical Significance in Business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D5D16-CD1E-46B5-77B3-95ACE9732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IN" sz="2400" b="1" dirty="0"/>
                  <a:t>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/>
                        </m:ctrlPr>
                      </m:sSubPr>
                      <m:e>
                        <m:r>
                          <a:rPr lang="en-IN" sz="2400" i="1"/>
                          <m:t>𝐻</m:t>
                        </m:r>
                      </m:e>
                      <m:sub>
                        <m:r>
                          <a:rPr lang="en-IN" sz="2400"/>
                          <m:t>0</m:t>
                        </m:r>
                      </m:sub>
                    </m:sSub>
                  </m:oMath>
                </a14:m>
                <a:r>
                  <a:rPr lang="en-IN" sz="2400" b="1" dirty="0"/>
                  <a:t>):</a:t>
                </a:r>
                <a:r>
                  <a:rPr lang="en-IN" sz="2400" dirty="0"/>
                  <a:t> Assuming no change or effect exists.</a:t>
                </a:r>
              </a:p>
              <a:p>
                <a:pPr lvl="0"/>
                <a:r>
                  <a:rPr lang="en-IN" sz="2400" b="1" dirty="0"/>
                  <a:t>p-Value:</a:t>
                </a:r>
                <a:r>
                  <a:rPr lang="en-IN" sz="2400" dirty="0"/>
                  <a:t> Measuring the probability that observed results occurred by random chance (</a:t>
                </a:r>
                <a14:m>
                  <m:oMath xmlns:m="http://schemas.openxmlformats.org/officeDocument/2006/math">
                    <m:r>
                      <a:rPr lang="en-IN" sz="2400" i="1"/>
                      <m:t>𝑝</m:t>
                    </m:r>
                    <m:r>
                      <a:rPr lang="en-IN" sz="2400"/>
                      <m:t>&lt;0.05</m:t>
                    </m:r>
                  </m:oMath>
                </a14:m>
                <a:r>
                  <a:rPr lang="en-IN" sz="2400" dirty="0"/>
                  <a:t> threshold).</a:t>
                </a:r>
              </a:p>
              <a:p>
                <a:pPr lvl="0"/>
                <a:r>
                  <a:rPr lang="en-IN" sz="2400" b="1" dirty="0"/>
                  <a:t>Business Application:</a:t>
                </a:r>
                <a:r>
                  <a:rPr lang="en-IN" sz="2400" dirty="0"/>
                  <a:t> Verifying pricing tests and feature variations before full deployment.</a:t>
                </a:r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D5D16-CD1E-46B5-77B3-95ACE9732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2436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FCA9-3ED2-E5BA-7015-86A1D046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Root Cause Analysis (RCA)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ECBB-2A0E-B0F4-C9A0-09BA0B95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0710"/>
            <a:ext cx="11029615" cy="3678303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5 Whys Technique:</a:t>
            </a:r>
            <a:r>
              <a:rPr lang="en-IN" sz="2400" dirty="0"/>
              <a:t> Iteratively asking "Why" 5 times to peel away symptom layers.</a:t>
            </a:r>
          </a:p>
          <a:p>
            <a:pPr lvl="0"/>
            <a:r>
              <a:rPr lang="en-IN" sz="2400" b="1" dirty="0"/>
              <a:t>Ishikawa / Fishbone Diagram:</a:t>
            </a:r>
            <a:r>
              <a:rPr lang="en-IN" sz="2400" dirty="0"/>
              <a:t> Categorizing causes into People, Process, Technology, Environment, and Materials.</a:t>
            </a:r>
          </a:p>
          <a:p>
            <a:pPr lvl="0"/>
            <a:r>
              <a:rPr lang="en-IN" sz="2400" b="1" dirty="0"/>
              <a:t>Pareto Analysis (80/20 Rule):</a:t>
            </a:r>
            <a:r>
              <a:rPr lang="en-IN" sz="2400" dirty="0"/>
              <a:t> Identifying the 20% of causes responsible for 80% of business bottlenecks.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8656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CF7C-A6A6-29B7-BCCC-9BB812DE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Prescriptive Analytics &amp; Decision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6F3CD-8919-71EE-FD9D-3DB89765E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Simulation &amp; Optimization:</a:t>
            </a:r>
            <a:r>
              <a:rPr lang="en-IN" sz="2400" dirty="0"/>
              <a:t> </a:t>
            </a:r>
            <a:r>
              <a:rPr lang="en-IN" sz="2400" dirty="0" err="1"/>
              <a:t>Modeling</a:t>
            </a:r>
            <a:r>
              <a:rPr lang="en-IN" sz="2400" dirty="0"/>
              <a:t> complex supply chains under varying demand assumptions.</a:t>
            </a:r>
          </a:p>
          <a:p>
            <a:pPr lvl="0"/>
            <a:r>
              <a:rPr lang="en-IN" sz="2400" b="1" dirty="0"/>
              <a:t>Rule Engine Automation:</a:t>
            </a:r>
            <a:r>
              <a:rPr lang="en-IN" sz="2400" dirty="0"/>
              <a:t> Systems making real-time, micro-decisions without human intervention (e.g., instant credit scoring).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50849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554B-F296-2BED-1405-8895BA83D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Data Localization Laws:</a:t>
            </a:r>
            <a:r>
              <a:rPr lang="en-IN" sz="2400" dirty="0"/>
              <a:t> Regulations requiring customer data to remain physically inside national borders (e.g., India, China, EU).</a:t>
            </a:r>
          </a:p>
          <a:p>
            <a:pPr lvl="0"/>
            <a:r>
              <a:rPr lang="en-IN" sz="2400" b="1" dirty="0"/>
              <a:t>Impact on IT Architecture:</a:t>
            </a:r>
            <a:r>
              <a:rPr lang="en-IN" sz="2400" dirty="0"/>
              <a:t> Designing multi-region databases and localized cloud storage to comply with international laws.</a:t>
            </a:r>
          </a:p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6C0B23-967E-FEEC-80FD-7B5CC8437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1192736"/>
            <a:ext cx="11029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Cross-Border Data Transfers &amp; Data Sovereignty</a:t>
            </a:r>
          </a:p>
        </p:txBody>
      </p:sp>
    </p:spTree>
    <p:extLst>
      <p:ext uri="{BB962C8B-B14F-4D97-AF65-F5344CB8AC3E}">
        <p14:creationId xmlns:p14="http://schemas.microsoft.com/office/powerpoint/2010/main" val="12500021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3A45-D760-5E39-3546-41202815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Responsible AI &amp; Ethics in Business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F85C-3CB2-0178-E9B1-142038958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Explainable AI (XAI):</a:t>
            </a:r>
            <a:r>
              <a:rPr lang="en-IN" sz="2400" dirty="0"/>
              <a:t> Ensuring complex deep learning models can explain </a:t>
            </a:r>
            <a:r>
              <a:rPr lang="en-IN" sz="2400" i="1" dirty="0"/>
              <a:t>why</a:t>
            </a:r>
            <a:r>
              <a:rPr lang="en-IN" sz="2400" dirty="0"/>
              <a:t> a customer was denied credit or rejected.</a:t>
            </a:r>
          </a:p>
          <a:p>
            <a:pPr lvl="0"/>
            <a:r>
              <a:rPr lang="en-IN" sz="2400" b="1" dirty="0"/>
              <a:t>Human-in-the-Loop (HITL):</a:t>
            </a:r>
            <a:r>
              <a:rPr lang="en-IN" sz="2400" dirty="0"/>
              <a:t> Maintaining human oversight on high-stakes AI outputs (e.g., healthcare diagnostics, legal reviews).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515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2147" y="1419226"/>
            <a:ext cx="3545250" cy="1746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512269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Sujay </a:t>
            </a:r>
            <a:r>
              <a:rPr lang="en-US" sz="2000" dirty="0" err="1">
                <a:solidFill>
                  <a:schemeClr val="bg2"/>
                </a:solidFill>
              </a:rPr>
              <a:t>purkait</a:t>
            </a:r>
            <a:endParaRPr lang="en-US" sz="2000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306</TotalTime>
  <Words>3345</Words>
  <Application>Microsoft Office PowerPoint</Application>
  <PresentationFormat>Widescreen</PresentationFormat>
  <Paragraphs>288</Paragraphs>
  <Slides>67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Calibri</vt:lpstr>
      <vt:lpstr>Gill Sans MT</vt:lpstr>
      <vt:lpstr>system-ui</vt:lpstr>
      <vt:lpstr>Wingdings 2</vt:lpstr>
      <vt:lpstr>Custom</vt:lpstr>
      <vt:lpstr>Information Technology</vt:lpstr>
      <vt:lpstr>Information Technology?</vt:lpstr>
      <vt:lpstr> The Role of IT in Business Operations : </vt:lpstr>
      <vt:lpstr> Overview of Business Systems (ERP &amp; CRM) </vt:lpstr>
      <vt:lpstr>The Interplay Between IT and Business Strategy :</vt:lpstr>
      <vt:lpstr>Recap &amp; Discussion </vt:lpstr>
      <vt:lpstr>Understanding Different Data Types</vt:lpstr>
      <vt:lpstr>Structured Data </vt:lpstr>
      <vt:lpstr>Unstructured Data</vt:lpstr>
      <vt:lpstr>Semi-Structured Data</vt:lpstr>
      <vt:lpstr>Common Data Sources </vt:lpstr>
      <vt:lpstr>Databases vs. APIs</vt:lpstr>
      <vt:lpstr>Passive Sensing vs. Active Engagement</vt:lpstr>
      <vt:lpstr>Data Lifecycle Management (DLM):</vt:lpstr>
      <vt:lpstr>Stage 1 &amp; Stage 2: Creation and Storage</vt:lpstr>
      <vt:lpstr>Stage 3 &amp; Stage 4: Usage and Archiving</vt:lpstr>
      <vt:lpstr>Stage 5: Deletion</vt:lpstr>
      <vt:lpstr>Data Quality and Integrity</vt:lpstr>
      <vt:lpstr>The Three Pillars: Accuracy, Completeness, Consistency</vt:lpstr>
      <vt:lpstr>Data Integrity and Validation Controls</vt:lpstr>
      <vt:lpstr>Recap &amp; Discussion </vt:lpstr>
      <vt:lpstr>Distinguishing Raw Data from Processed Information </vt:lpstr>
      <vt:lpstr>The Transformation Process: Data to Information </vt:lpstr>
      <vt:lpstr>From Information to Knowledge </vt:lpstr>
      <vt:lpstr>The Value of Information in Decision Making </vt:lpstr>
      <vt:lpstr>Data to Action </vt:lpstr>
      <vt:lpstr>Definition of Data-Driven Decision Making</vt:lpstr>
      <vt:lpstr>Principles of DDDM</vt:lpstr>
      <vt:lpstr> Benefits of Using Data for Decisions</vt:lpstr>
      <vt:lpstr>Steps in the DDDM Process</vt:lpstr>
      <vt:lpstr>Analytics Maturity Model – From Descriptive to Prescriptive</vt:lpstr>
      <vt:lpstr>Challenges and Pitfalls</vt:lpstr>
      <vt:lpstr>Real-Life Example: Netflix Recommendation Engine  </vt:lpstr>
      <vt:lpstr>Cultural Obstacles to DDDM</vt:lpstr>
      <vt:lpstr>What is Data Governance?</vt:lpstr>
      <vt:lpstr>Key Pillars of Data Governance</vt:lpstr>
      <vt:lpstr>Introduction to Data Ethics</vt:lpstr>
      <vt:lpstr>Core Ethical Principles – Privacy &amp; Confidentiality</vt:lpstr>
      <vt:lpstr>Core Ethical Principles – Transparency &amp; Algorithmic Bias</vt:lpstr>
      <vt:lpstr>Regulatory Compliance – GDPR (General Data Protection Regulation)</vt:lpstr>
      <vt:lpstr>Building a Responsible Data Culture</vt:lpstr>
      <vt:lpstr>Course Summary &amp; Capstone Framework</vt:lpstr>
      <vt:lpstr>Enterprise Architecture (EA) Frameworks</vt:lpstr>
      <vt:lpstr>Integration Patterns – Middleware &amp; APIs</vt:lpstr>
      <vt:lpstr>Cloud Infrastructure Models – IaaS, PaaS, and SaaS</vt:lpstr>
      <vt:lpstr>Cloud vs. On-Premises vs. Hybrid Environments</vt:lpstr>
      <vt:lpstr>Legacy System Modernization</vt:lpstr>
      <vt:lpstr>Big Data Fundamentals – The 5 Vs</vt:lpstr>
      <vt:lpstr>Data Integration Pipelines – ETL vs. ELT</vt:lpstr>
      <vt:lpstr>Data Warehouses vs. Data Lakes vs. Data Lakehouses</vt:lpstr>
      <vt:lpstr>Master Data Management (MDM)</vt:lpstr>
      <vt:lpstr>Data Security &amp; Encryption Standards</vt:lpstr>
      <vt:lpstr>The IIBA BABOK Framework Overview</vt:lpstr>
      <vt:lpstr>Writing Effective Requirements – User Stories &amp; Acceptance Criteria</vt:lpstr>
      <vt:lpstr>Prototyping and Wireframing Techniques</vt:lpstr>
      <vt:lpstr>User Acceptance Testing (UAT) Management</vt:lpstr>
      <vt:lpstr>organizational Change Management (OCM)</vt:lpstr>
      <vt:lpstr>Metadata &amp; Data Lineage</vt:lpstr>
      <vt:lpstr>Defining Key Performance Indicators (KPIs)</vt:lpstr>
      <vt:lpstr>Executive Dashboards vs. Operational Reports</vt:lpstr>
      <vt:lpstr>Advanced Diagnostic Analytics Techniques</vt:lpstr>
      <vt:lpstr>Hypothesis Testing &amp; Statistical Significance in Business</vt:lpstr>
      <vt:lpstr>Root Cause Analysis (RCA) Frameworks</vt:lpstr>
      <vt:lpstr>Prescriptive Analytics &amp; Decision Automation</vt:lpstr>
      <vt:lpstr>Cross-Border Data Transfers &amp; Data Sovereignty</vt:lpstr>
      <vt:lpstr>Responsible AI &amp; Ethics in Business Systems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 purkait</dc:creator>
  <cp:lastModifiedBy>Prabin Mondal</cp:lastModifiedBy>
  <cp:revision>4</cp:revision>
  <dcterms:created xsi:type="dcterms:W3CDTF">2026-07-27T17:24:00Z</dcterms:created>
  <dcterms:modified xsi:type="dcterms:W3CDTF">2026-07-29T18:20:18Z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